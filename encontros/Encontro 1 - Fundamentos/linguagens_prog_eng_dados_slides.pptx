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3" r:id="rId4"/>
    <p:sldId id="284" r:id="rId5"/>
    <p:sldId id="285" r:id="rId6"/>
    <p:sldId id="279" r:id="rId7"/>
    <p:sldId id="288" r:id="rId8"/>
    <p:sldId id="287" r:id="rId9"/>
    <p:sldId id="289" r:id="rId10"/>
    <p:sldId id="290" r:id="rId11"/>
    <p:sldId id="291" r:id="rId12"/>
    <p:sldId id="292" r:id="rId13"/>
    <p:sldId id="293" r:id="rId14"/>
    <p:sldId id="302" r:id="rId15"/>
    <p:sldId id="303" r:id="rId16"/>
    <p:sldId id="296" r:id="rId17"/>
    <p:sldId id="297" r:id="rId18"/>
    <p:sldId id="298" r:id="rId19"/>
    <p:sldId id="299" r:id="rId20"/>
    <p:sldId id="300" r:id="rId21"/>
    <p:sldId id="30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17"/>
  </p:normalViewPr>
  <p:slideViewPr>
    <p:cSldViewPr snapToGrid="0" snapToObjects="1">
      <p:cViewPr varScale="1">
        <p:scale>
          <a:sx n="113" d="100"/>
          <a:sy n="113" d="100"/>
        </p:scale>
        <p:origin x="71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Lato Sensu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Carga horária: 24h  |  Datas: 25/06 a 11/07/2026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UNIFOR — Pós-Graduação</a:t>
            </a:r>
          </a:p>
        </p:txBody>
      </p:sp>
      <p:sp>
        <p:nvSpPr>
          <p:cNvPr id="40" name="Pill0"/>
          <p:cNvSpPr/>
          <p:nvPr/>
        </p:nvSpPr>
        <p:spPr>
          <a:xfrm>
            <a:off x="736600" y="5740400"/>
            <a:ext cx="2349500" cy="558800"/>
          </a:xfrm>
          <a:prstGeom prst="roundRect">
            <a:avLst>
              <a:gd name="adj" fmla="val 50000"/>
            </a:avLst>
          </a:prstGeom>
          <a:solidFill>
            <a:srgbClr val="5B93D6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Fontes</a:t>
            </a:r>
          </a:p>
        </p:txBody>
      </p:sp>
      <p:sp>
        <p:nvSpPr>
          <p:cNvPr id="50" name="Arr0"/>
          <p:cNvSpPr/>
          <p:nvPr/>
        </p:nvSpPr>
        <p:spPr>
          <a:xfrm>
            <a:off x="3098800" y="5905500"/>
            <a:ext cx="292100" cy="2286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ill1"/>
          <p:cNvSpPr/>
          <p:nvPr/>
        </p:nvSpPr>
        <p:spPr>
          <a:xfrm>
            <a:off x="3403600" y="5740400"/>
            <a:ext cx="2349500" cy="558800"/>
          </a:xfrm>
          <a:prstGeom prst="roundRect">
            <a:avLst>
              <a:gd name="adj" fmla="val 50000"/>
            </a:avLst>
          </a:prstGeom>
          <a:solidFill>
            <a:srgbClr val="1E5DA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51" name="Arr1"/>
          <p:cNvSpPr/>
          <p:nvPr/>
        </p:nvSpPr>
        <p:spPr>
          <a:xfrm>
            <a:off x="5765800" y="5905500"/>
            <a:ext cx="292100" cy="2286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Pill2"/>
          <p:cNvSpPr/>
          <p:nvPr/>
        </p:nvSpPr>
        <p:spPr>
          <a:xfrm>
            <a:off x="6070600" y="5740400"/>
            <a:ext cx="2349500" cy="558800"/>
          </a:xfrm>
          <a:prstGeom prst="roundRect">
            <a:avLst>
              <a:gd name="adj" fmla="val 50000"/>
            </a:avLst>
          </a:prstGeom>
          <a:solidFill>
            <a:srgbClr val="103E82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Dado confiável</a:t>
            </a:r>
          </a:p>
        </p:txBody>
      </p:sp>
      <p:sp>
        <p:nvSpPr>
          <p:cNvPr id="52" name="Arr2"/>
          <p:cNvSpPr/>
          <p:nvPr/>
        </p:nvSpPr>
        <p:spPr>
          <a:xfrm>
            <a:off x="8432800" y="5905500"/>
            <a:ext cx="292100" cy="2286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Pill3"/>
          <p:cNvSpPr/>
          <p:nvPr/>
        </p:nvSpPr>
        <p:spPr>
          <a:xfrm>
            <a:off x="8737600" y="5740400"/>
            <a:ext cx="2349500" cy="558800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lIns="18000" tIns="0" rIns="18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Análise &amp; IA</a:t>
            </a:r>
          </a:p>
        </p:txBody>
      </p:sp>
    </p:spTree>
    <p:extLst>
      <p:ext uri="{BB962C8B-B14F-4D97-AF65-F5344CB8AC3E}">
        <p14:creationId xmlns:p14="http://schemas.microsoft.com/office/powerpoint/2010/main" val="139185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Sumário da Disciplina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107315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pt-BR" sz="2200" i="1">
                <a:solidFill>
                  <a:srgbClr val="1E5DAA"/>
                </a:solidFill>
                <a:latin typeface="Calibri"/>
                <a:cs typeface="Calibri"/>
              </a:rPr>
              <a:t>Módulo 1 — Fundamentos · Encontro 1 (25/06/2026)</a:t>
            </a:r>
            <a:endParaRPr sz="2200" i="1">
              <a:solidFill>
                <a:srgbClr val="1E5DAA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30" name="Spine"/>
          <p:cNvSpPr/>
          <p:nvPr/>
        </p:nvSpPr>
        <p:spPr>
          <a:xfrm>
            <a:off x="1295400" y="2527300"/>
            <a:ext cx="50800" cy="3352800"/>
          </a:xfrm>
          <a:prstGeom prst="rect">
            <a:avLst/>
          </a:prstGeom>
          <a:solidFill>
            <a:srgbClr val="C7D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Num0"/>
          <p:cNvSpPr/>
          <p:nvPr/>
        </p:nvSpPr>
        <p:spPr>
          <a:xfrm>
            <a:off x="1028700" y="2235200"/>
            <a:ext cx="584200" cy="584200"/>
          </a:xfrm>
          <a:prstGeom prst="ellipse">
            <a:avLst/>
          </a:prstGeom>
          <a:solidFill>
            <a:srgbClr val="5B93D6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Lbl0"/>
          <p:cNvSpPr txBox="1"/>
          <p:nvPr/>
        </p:nvSpPr>
        <p:spPr>
          <a:xfrm>
            <a:off x="1905000" y="2184400"/>
            <a:ext cx="9398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800" dirty="0">
                <a:solidFill>
                  <a:srgbClr val="1A1A1A"/>
                </a:solidFill>
                <a:latin typeface="Calibri"/>
              </a:rPr>
              <a:t>O que é Engenharia de Dados — e como difere de Ciência de Dados</a:t>
            </a:r>
          </a:p>
        </p:txBody>
      </p:sp>
      <p:sp>
        <p:nvSpPr>
          <p:cNvPr id="32" name="Num1"/>
          <p:cNvSpPr/>
          <p:nvPr/>
        </p:nvSpPr>
        <p:spPr>
          <a:xfrm>
            <a:off x="1028700" y="3073400"/>
            <a:ext cx="584200" cy="584200"/>
          </a:xfrm>
          <a:prstGeom prst="ellipse">
            <a:avLst/>
          </a:prstGeom>
          <a:solidFill>
            <a:srgbClr val="3E7CC4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Lbl1"/>
          <p:cNvSpPr txBox="1"/>
          <p:nvPr/>
        </p:nvSpPr>
        <p:spPr>
          <a:xfrm>
            <a:off x="1905000" y="3022600"/>
            <a:ext cx="9398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800" dirty="0">
                <a:solidFill>
                  <a:srgbClr val="1A1A1A"/>
                </a:solidFill>
                <a:latin typeface="Calibri"/>
              </a:rPr>
              <a:t>O dado como produto e por que programar (e não clicar)</a:t>
            </a:r>
          </a:p>
        </p:txBody>
      </p:sp>
      <p:sp>
        <p:nvSpPr>
          <p:cNvPr id="33" name="Num2"/>
          <p:cNvSpPr/>
          <p:nvPr/>
        </p:nvSpPr>
        <p:spPr>
          <a:xfrm>
            <a:off x="1028700" y="3911600"/>
            <a:ext cx="584200" cy="584200"/>
          </a:xfrm>
          <a:prstGeom prst="ellipse">
            <a:avLst/>
          </a:prstGeom>
          <a:solidFill>
            <a:srgbClr val="1E5DAA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Lbl2"/>
          <p:cNvSpPr txBox="1"/>
          <p:nvPr/>
        </p:nvSpPr>
        <p:spPr>
          <a:xfrm>
            <a:off x="1905000" y="3860800"/>
            <a:ext cx="9398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800" dirty="0">
                <a:solidFill>
                  <a:srgbClr val="1A1A1A"/>
                </a:solidFill>
                <a:latin typeface="Calibri"/>
              </a:rPr>
              <a:t>O mapa das linguagens: Python, SQL e o papel de Scala/Java</a:t>
            </a:r>
          </a:p>
        </p:txBody>
      </p:sp>
      <p:sp>
        <p:nvSpPr>
          <p:cNvPr id="34" name="Num3"/>
          <p:cNvSpPr/>
          <p:nvPr/>
        </p:nvSpPr>
        <p:spPr>
          <a:xfrm>
            <a:off x="1028700" y="4749800"/>
            <a:ext cx="584200" cy="584200"/>
          </a:xfrm>
          <a:prstGeom prst="ellipse">
            <a:avLst/>
          </a:prstGeom>
          <a:solidFill>
            <a:srgbClr val="103E82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Lbl3"/>
          <p:cNvSpPr txBox="1"/>
          <p:nvPr/>
        </p:nvSpPr>
        <p:spPr>
          <a:xfrm>
            <a:off x="1905000" y="4699000"/>
            <a:ext cx="9398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800" dirty="0">
                <a:solidFill>
                  <a:srgbClr val="1A1A1A"/>
                </a:solidFill>
                <a:latin typeface="Calibri"/>
              </a:rPr>
              <a:t>Python na prática: blocos mínimos e estruturas de dados</a:t>
            </a:r>
          </a:p>
        </p:txBody>
      </p:sp>
      <p:sp>
        <p:nvSpPr>
          <p:cNvPr id="35" name="Num4"/>
          <p:cNvSpPr/>
          <p:nvPr/>
        </p:nvSpPr>
        <p:spPr>
          <a:xfrm>
            <a:off x="1028700" y="5588000"/>
            <a:ext cx="584200" cy="584200"/>
          </a:xfrm>
          <a:prstGeom prst="ellipse">
            <a:avLst/>
          </a:prstGeom>
          <a:solidFill>
            <a:srgbClr val="003B7A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Lbl4"/>
          <p:cNvSpPr txBox="1"/>
          <p:nvPr/>
        </p:nvSpPr>
        <p:spPr>
          <a:xfrm>
            <a:off x="1905000" y="5537200"/>
            <a:ext cx="9398000" cy="685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800" dirty="0">
                <a:solidFill>
                  <a:srgbClr val="1A1A1A"/>
                </a:solidFill>
                <a:latin typeface="Calibri"/>
              </a:rPr>
              <a:t>Seu primeiro pipeline ETL + laboratório guiado</a:t>
            </a:r>
          </a:p>
        </p:txBody>
      </p:sp>
    </p:spTree>
    <p:extLst>
      <p:ext uri="{BB962C8B-B14F-4D97-AF65-F5344CB8AC3E}">
        <p14:creationId xmlns:p14="http://schemas.microsoft.com/office/powerpoint/2010/main" val="254677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Objetivos da Disciplina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endParaRPr sz="180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0" name="Card0"/>
          <p:cNvSpPr/>
          <p:nvPr/>
        </p:nvSpPr>
        <p:spPr>
          <a:xfrm>
            <a:off x="736600" y="2032000"/>
            <a:ext cx="3403600" cy="1905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Badge0"/>
          <p:cNvSpPr/>
          <p:nvPr/>
        </p:nvSpPr>
        <p:spPr>
          <a:xfrm>
            <a:off x="939800" y="2235200"/>
            <a:ext cx="482600" cy="482600"/>
          </a:xfrm>
          <a:prstGeom prst="ellipse">
            <a:avLst/>
          </a:prstGeom>
          <a:solidFill>
            <a:srgbClr val="5B93D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0" name="Txt0"/>
          <p:cNvSpPr txBox="1"/>
          <p:nvPr/>
        </p:nvSpPr>
        <p:spPr>
          <a:xfrm>
            <a:off x="1549400" y="2209800"/>
            <a:ext cx="2413000" cy="1574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Papel do Engenheiro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  <a:latin typeface="Calibri"/>
              </a:rPr>
              <a:t>Como a Engenharia de Dados se relaciona com Ciência de Dados, Analytics e o negócio.</a:t>
            </a:r>
          </a:p>
        </p:txBody>
      </p:sp>
      <p:sp>
        <p:nvSpPr>
          <p:cNvPr id="61" name="Card1"/>
          <p:cNvSpPr/>
          <p:nvPr/>
        </p:nvSpPr>
        <p:spPr>
          <a:xfrm>
            <a:off x="4330700" y="2032000"/>
            <a:ext cx="3403600" cy="1905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Badge1"/>
          <p:cNvSpPr/>
          <p:nvPr/>
        </p:nvSpPr>
        <p:spPr>
          <a:xfrm>
            <a:off x="4533900" y="2235200"/>
            <a:ext cx="482600" cy="482600"/>
          </a:xfrm>
          <a:prstGeom prst="ellipse">
            <a:avLst/>
          </a:prstGeom>
          <a:solidFill>
            <a:srgbClr val="3E7CC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1" name="Txt1"/>
          <p:cNvSpPr txBox="1"/>
          <p:nvPr/>
        </p:nvSpPr>
        <p:spPr>
          <a:xfrm>
            <a:off x="5143500" y="2209800"/>
            <a:ext cx="2413000" cy="1574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Programação no centro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  <a:latin typeface="Calibri"/>
              </a:rPr>
              <a:t>Por que programar é a competência central da Engenharia de Dados.</a:t>
            </a:r>
          </a:p>
        </p:txBody>
      </p:sp>
      <p:sp>
        <p:nvSpPr>
          <p:cNvPr id="62" name="Card2"/>
          <p:cNvSpPr/>
          <p:nvPr/>
        </p:nvSpPr>
        <p:spPr>
          <a:xfrm>
            <a:off x="7924800" y="2032000"/>
            <a:ext cx="3403600" cy="1905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Badge2"/>
          <p:cNvSpPr/>
          <p:nvPr/>
        </p:nvSpPr>
        <p:spPr>
          <a:xfrm>
            <a:off x="8128000" y="2235200"/>
            <a:ext cx="482600" cy="482600"/>
          </a:xfrm>
          <a:prstGeom prst="ellipse">
            <a:avLst/>
          </a:prstGeom>
          <a:solidFill>
            <a:srgbClr val="1E5DA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xt2"/>
          <p:cNvSpPr txBox="1"/>
          <p:nvPr/>
        </p:nvSpPr>
        <p:spPr>
          <a:xfrm>
            <a:off x="8737600" y="2209800"/>
            <a:ext cx="2413000" cy="1574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Mapa das linguagens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  <a:latin typeface="Calibri"/>
              </a:rPr>
              <a:t>Python, SQL e o papel de Java/Scala — e quando cada uma entra.</a:t>
            </a:r>
          </a:p>
        </p:txBody>
      </p:sp>
      <p:sp>
        <p:nvSpPr>
          <p:cNvPr id="63" name="Card3"/>
          <p:cNvSpPr/>
          <p:nvPr/>
        </p:nvSpPr>
        <p:spPr>
          <a:xfrm>
            <a:off x="3270250" y="4114800"/>
            <a:ext cx="3403600" cy="1905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Badge3"/>
          <p:cNvSpPr/>
          <p:nvPr/>
        </p:nvSpPr>
        <p:spPr>
          <a:xfrm>
            <a:off x="3473450" y="4318000"/>
            <a:ext cx="482600" cy="482600"/>
          </a:xfrm>
          <a:prstGeom prst="ellipse">
            <a:avLst/>
          </a:prstGeom>
          <a:solidFill>
            <a:srgbClr val="103E82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3" name="Txt3"/>
          <p:cNvSpPr txBox="1"/>
          <p:nvPr/>
        </p:nvSpPr>
        <p:spPr>
          <a:xfrm>
            <a:off x="4083050" y="4292600"/>
            <a:ext cx="2413000" cy="1574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Python aplicado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  <a:latin typeface="Calibri"/>
              </a:rPr>
              <a:t>Ler e escrever trechos básicos de Python para manipular dados.</a:t>
            </a:r>
          </a:p>
        </p:txBody>
      </p:sp>
      <p:sp>
        <p:nvSpPr>
          <p:cNvPr id="64" name="Card4"/>
          <p:cNvSpPr/>
          <p:nvPr/>
        </p:nvSpPr>
        <p:spPr>
          <a:xfrm>
            <a:off x="6864350" y="4114800"/>
            <a:ext cx="3403600" cy="1905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Badge4"/>
          <p:cNvSpPr/>
          <p:nvPr/>
        </p:nvSpPr>
        <p:spPr>
          <a:xfrm>
            <a:off x="7067550" y="4318000"/>
            <a:ext cx="482600" cy="48260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4" name="Txt4"/>
          <p:cNvSpPr txBox="1"/>
          <p:nvPr/>
        </p:nvSpPr>
        <p:spPr>
          <a:xfrm>
            <a:off x="7677150" y="4292600"/>
            <a:ext cx="2413000" cy="1574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Pipeline ponta a ponta</a:t>
            </a:r>
          </a:p>
          <a:p>
            <a:pPr algn="l"/>
            <a:r>
              <a:rPr lang="pt-BR" sz="1400" dirty="0">
                <a:solidFill>
                  <a:srgbClr val="333333"/>
                </a:solidFill>
                <a:latin typeface="Calibri"/>
              </a:rPr>
              <a:t>Ingerir, transformar e persistir dados num mini-ETL completo.</a:t>
            </a:r>
          </a:p>
        </p:txBody>
      </p:sp>
    </p:spTree>
    <p:extLst>
      <p:ext uri="{BB962C8B-B14F-4D97-AF65-F5344CB8AC3E}">
        <p14:creationId xmlns:p14="http://schemas.microsoft.com/office/powerpoint/2010/main" val="206844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WM01"/>
          <p:cNvSpPr txBox="1"/>
          <p:nvPr/>
        </p:nvSpPr>
        <p:spPr>
          <a:xfrm>
            <a:off x="7112000" y="1905000"/>
            <a:ext cx="4826000" cy="4572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/>
            <a:r>
              <a:rPr lang="pt-BR" sz="26000" b="1" dirty="0">
                <a:solidFill>
                  <a:srgbClr val="EAF1FB"/>
                </a:solidFill>
                <a:latin typeface="Calibri"/>
              </a:rPr>
              <a:t>01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E5DAA"/>
                </a:solidFill>
                <a:latin typeface="Calibri"/>
              </a:rPr>
              <a:t>Módulo 1 — Fundamentos — O que é Engenharia de Dados e por que programar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B7A"/>
                </a:solidFill>
                <a:latin typeface="Calibri"/>
              </a:rPr>
              <a:t>Encontro 1  •  25/06/2026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19:00 às 22:30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41" name="AccentBar"/>
          <p:cNvSpPr/>
          <p:nvPr/>
        </p:nvSpPr>
        <p:spPr>
          <a:xfrm>
            <a:off x="736600" y="1778000"/>
            <a:ext cx="812800" cy="1016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47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Antes de começar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Quem é a turma e como vamos trabalhar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60" name="C0"/>
          <p:cNvSpPr/>
          <p:nvPr/>
        </p:nvSpPr>
        <p:spPr>
          <a:xfrm>
            <a:off x="736600" y="2133600"/>
            <a:ext cx="5181600" cy="1778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S0"/>
          <p:cNvSpPr/>
          <p:nvPr/>
        </p:nvSpPr>
        <p:spPr>
          <a:xfrm>
            <a:off x="736600" y="2133600"/>
            <a:ext cx="127000" cy="1778000"/>
          </a:xfrm>
          <a:prstGeom prst="rect">
            <a:avLst/>
          </a:prstGeom>
          <a:solidFill>
            <a:srgbClr val="5B9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0"/>
          <p:cNvSpPr txBox="1"/>
          <p:nvPr/>
        </p:nvSpPr>
        <p:spPr>
          <a:xfrm>
            <a:off x="1092200" y="2362200"/>
            <a:ext cx="4622800" cy="1371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Turma diversa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Há quem programe há anos e quem nunca programou — e está tudo certo.</a:t>
            </a:r>
          </a:p>
        </p:txBody>
      </p:sp>
      <p:sp>
        <p:nvSpPr>
          <p:cNvPr id="61" name="C1"/>
          <p:cNvSpPr/>
          <p:nvPr/>
        </p:nvSpPr>
        <p:spPr>
          <a:xfrm>
            <a:off x="6172200" y="2133600"/>
            <a:ext cx="5181600" cy="1778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S1"/>
          <p:cNvSpPr/>
          <p:nvPr/>
        </p:nvSpPr>
        <p:spPr>
          <a:xfrm>
            <a:off x="6172200" y="2133600"/>
            <a:ext cx="127000" cy="177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1"/>
          <p:cNvSpPr txBox="1"/>
          <p:nvPr/>
        </p:nvSpPr>
        <p:spPr>
          <a:xfrm>
            <a:off x="6527800" y="2362200"/>
            <a:ext cx="4622800" cy="1371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Aula de fundação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Vocabulário, intuição e o primeiro código rodando hoje.</a:t>
            </a:r>
          </a:p>
        </p:txBody>
      </p:sp>
      <p:sp>
        <p:nvSpPr>
          <p:cNvPr id="62" name="C2"/>
          <p:cNvSpPr/>
          <p:nvPr/>
        </p:nvSpPr>
        <p:spPr>
          <a:xfrm>
            <a:off x="736600" y="4140200"/>
            <a:ext cx="5181600" cy="1778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S2"/>
          <p:cNvSpPr/>
          <p:nvPr/>
        </p:nvSpPr>
        <p:spPr>
          <a:xfrm>
            <a:off x="736600" y="4140200"/>
            <a:ext cx="127000" cy="1778000"/>
          </a:xfrm>
          <a:prstGeom prst="rect">
            <a:avLst/>
          </a:prstGeom>
          <a:solidFill>
            <a:srgbClr val="103E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T2"/>
          <p:cNvSpPr txBox="1"/>
          <p:nvPr/>
        </p:nvSpPr>
        <p:spPr>
          <a:xfrm>
            <a:off x="1092200" y="4368800"/>
            <a:ext cx="4622800" cy="1371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Aprende-se programando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A teoria existe para dar sentido ao código.</a:t>
            </a:r>
          </a:p>
        </p:txBody>
      </p:sp>
      <p:sp>
        <p:nvSpPr>
          <p:cNvPr id="63" name="C3"/>
          <p:cNvSpPr/>
          <p:nvPr/>
        </p:nvSpPr>
        <p:spPr>
          <a:xfrm>
            <a:off x="6172200" y="4140200"/>
            <a:ext cx="5181600" cy="1778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S3"/>
          <p:cNvSpPr/>
          <p:nvPr/>
        </p:nvSpPr>
        <p:spPr>
          <a:xfrm>
            <a:off x="6172200" y="4140200"/>
            <a:ext cx="127000" cy="177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T3"/>
          <p:cNvSpPr txBox="1"/>
          <p:nvPr/>
        </p:nvSpPr>
        <p:spPr>
          <a:xfrm>
            <a:off x="6527800" y="4368800"/>
            <a:ext cx="4622800" cy="1371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Pergunte sempre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Errar de propósito é parte do método.</a:t>
            </a:r>
          </a:p>
        </p:txBody>
      </p:sp>
    </p:spTree>
    <p:extLst>
      <p:ext uri="{BB962C8B-B14F-4D97-AF65-F5344CB8AC3E}">
        <p14:creationId xmlns:p14="http://schemas.microsoft.com/office/powerpoint/2010/main" val="284160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que é Engenharia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A base da pirâmide que sustenta 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86000"/>
            <a:ext cx="527050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03B7A"/>
                </a:solidFill>
                <a:latin typeface="Calibri"/>
              </a:rPr>
              <a:t>Projeta, constrói e mantém</a:t>
            </a:r>
            <a:r>
              <a:rPr sz="1800">
                <a:solidFill>
                  <a:srgbClr val="1A1A1A"/>
                </a:solidFill>
                <a:latin typeface="Calibri"/>
              </a:rPr>
              <a:t> os sistemas que movem e preparam dados.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Entrega dado </a:t>
            </a:r>
            <a:r>
              <a:rPr sz="1800" b="1">
                <a:solidFill>
                  <a:srgbClr val="003B7A"/>
                </a:solidFill>
                <a:latin typeface="Calibri"/>
              </a:rPr>
              <a:t>confiável</a:t>
            </a:r>
            <a:r>
              <a:rPr sz="1800">
                <a:solidFill>
                  <a:srgbClr val="1A1A1A"/>
                </a:solidFill>
                <a:latin typeface="Calibri"/>
              </a:rPr>
              <a:t>, na hora certa, no formato certo e de forma rastreável.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É </a:t>
            </a:r>
            <a:r>
              <a:rPr sz="1800" b="1">
                <a:solidFill>
                  <a:srgbClr val="003B7A"/>
                </a:solidFill>
                <a:latin typeface="Calibri"/>
              </a:rPr>
              <a:t>pré-requisito</a:t>
            </a:r>
            <a:r>
              <a:rPr sz="1800">
                <a:solidFill>
                  <a:srgbClr val="1A1A1A"/>
                </a:solidFill>
                <a:latin typeface="Calibri"/>
              </a:rPr>
              <a:t> de tudo que vem depois: análise, dashboards e 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60" name="Tier60"/>
          <p:cNvSpPr/>
          <p:nvPr/>
        </p:nvSpPr>
        <p:spPr>
          <a:xfrm>
            <a:off x="8255000" y="2286000"/>
            <a:ext cx="1524000" cy="753110"/>
          </a:xfrm>
          <a:custGeom>
            <a:avLst/>
            <a:gdLst/>
            <a:ahLst/>
            <a:cxnLst/>
            <a:rect l="0" t="0" r="0" b="0"/>
            <a:pathLst>
              <a:path w="1524000" h="753110">
                <a:moveTo>
                  <a:pt x="762000" y="0"/>
                </a:moveTo>
                <a:lnTo>
                  <a:pt x="1524000" y="753110"/>
                </a:lnTo>
                <a:lnTo>
                  <a:pt x="0" y="753110"/>
                </a:lnTo>
                <a:close/>
              </a:path>
            </a:pathLst>
          </a:custGeom>
          <a:solidFill>
            <a:srgbClr val="5B93D6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1" name="Tier61"/>
          <p:cNvSpPr/>
          <p:nvPr/>
        </p:nvSpPr>
        <p:spPr>
          <a:xfrm>
            <a:off x="7493000" y="3039110"/>
            <a:ext cx="3048000" cy="754380"/>
          </a:xfrm>
          <a:custGeom>
            <a:avLst/>
            <a:gdLst/>
            <a:ahLst/>
            <a:cxnLst/>
            <a:rect l="0" t="0" r="0" b="0"/>
            <a:pathLst>
              <a:path w="3048000" h="754380">
                <a:moveTo>
                  <a:pt x="762000" y="0"/>
                </a:moveTo>
                <a:lnTo>
                  <a:pt x="2286000" y="0"/>
                </a:lnTo>
                <a:lnTo>
                  <a:pt x="3048000" y="754380"/>
                </a:lnTo>
                <a:lnTo>
                  <a:pt x="0" y="754380"/>
                </a:lnTo>
                <a:close/>
              </a:path>
            </a:pathLst>
          </a:custGeom>
          <a:solidFill>
            <a:srgbClr val="1E5DAA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1400" b="0" dirty="0">
                <a:solidFill>
                  <a:srgbClr val="FFFFFF"/>
                </a:solidFill>
                <a:latin typeface="Calibri"/>
              </a:rPr>
              <a:t>Análise &amp; BI</a:t>
            </a:r>
          </a:p>
        </p:txBody>
      </p:sp>
      <p:sp>
        <p:nvSpPr>
          <p:cNvPr id="62" name="Tier62"/>
          <p:cNvSpPr/>
          <p:nvPr/>
        </p:nvSpPr>
        <p:spPr>
          <a:xfrm>
            <a:off x="6731000" y="3793490"/>
            <a:ext cx="4572000" cy="753110"/>
          </a:xfrm>
          <a:custGeom>
            <a:avLst/>
            <a:gdLst/>
            <a:ahLst/>
            <a:cxnLst/>
            <a:rect l="0" t="0" r="0" b="0"/>
            <a:pathLst>
              <a:path w="4572000" h="753110">
                <a:moveTo>
                  <a:pt x="762000" y="0"/>
                </a:moveTo>
                <a:lnTo>
                  <a:pt x="3810000" y="0"/>
                </a:lnTo>
                <a:lnTo>
                  <a:pt x="4572000" y="753110"/>
                </a:lnTo>
                <a:lnTo>
                  <a:pt x="0" y="753110"/>
                </a:lnTo>
                <a:close/>
              </a:path>
            </a:pathLst>
          </a:custGeom>
          <a:solidFill>
            <a:srgbClr val="003B7A"/>
          </a:solidFill>
          <a:ln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Engenharia de Dados</a:t>
            </a:r>
          </a:p>
        </p:txBody>
      </p:sp>
      <p:sp>
        <p:nvSpPr>
          <p:cNvPr id="63" name="ApexLbl"/>
          <p:cNvSpPr txBox="1"/>
          <p:nvPr/>
        </p:nvSpPr>
        <p:spPr>
          <a:xfrm>
            <a:off x="8128000" y="2489200"/>
            <a:ext cx="1778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64" name="PyrCap"/>
          <p:cNvSpPr txBox="1"/>
          <p:nvPr/>
        </p:nvSpPr>
        <p:spPr>
          <a:xfrm>
            <a:off x="6350000" y="4572000"/>
            <a:ext cx="5334000" cy="30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1400" i="1" dirty="0">
                <a:solidFill>
                  <a:srgbClr val="555555"/>
                </a:solidFill>
                <a:latin typeface="Calibri"/>
              </a:rPr>
              <a:t>A base sustenta tudo o que vem acima</a:t>
            </a:r>
          </a:p>
        </p:txBody>
      </p:sp>
      <p:sp>
        <p:nvSpPr>
          <p:cNvPr id="69" name="PipeLabel"/>
          <p:cNvSpPr txBox="1"/>
          <p:nvPr/>
        </p:nvSpPr>
        <p:spPr>
          <a:xfrm>
            <a:off x="762000" y="5054600"/>
            <a:ext cx="50800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003B7A"/>
                </a:solidFill>
                <a:latin typeface="Calibri"/>
              </a:rPr>
              <a:t>Ciclo de vida do dado</a:t>
            </a:r>
          </a:p>
        </p:txBody>
      </p:sp>
      <p:sp>
        <p:nvSpPr>
          <p:cNvPr id="70" name="Chev0"/>
          <p:cNvSpPr/>
          <p:nvPr/>
        </p:nvSpPr>
        <p:spPr>
          <a:xfrm>
            <a:off x="762000" y="5410200"/>
            <a:ext cx="2260600" cy="736600"/>
          </a:xfrm>
          <a:prstGeom prst="chevron">
            <a:avLst>
              <a:gd name="adj" fmla="val 30000"/>
            </a:avLst>
          </a:prstGeom>
          <a:solidFill>
            <a:srgbClr val="5B93D6"/>
          </a:solidFill>
          <a:ln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Geração</a:t>
            </a:r>
          </a:p>
        </p:txBody>
      </p:sp>
      <p:sp>
        <p:nvSpPr>
          <p:cNvPr id="71" name="Chev1"/>
          <p:cNvSpPr/>
          <p:nvPr/>
        </p:nvSpPr>
        <p:spPr>
          <a:xfrm>
            <a:off x="2870200" y="5410200"/>
            <a:ext cx="2260600" cy="736600"/>
          </a:xfrm>
          <a:prstGeom prst="chevron">
            <a:avLst>
              <a:gd name="adj" fmla="val 30000"/>
            </a:avLst>
          </a:prstGeom>
          <a:solidFill>
            <a:srgbClr val="3E7CC4"/>
          </a:solidFill>
          <a:ln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Ingestão</a:t>
            </a:r>
          </a:p>
        </p:txBody>
      </p:sp>
      <p:sp>
        <p:nvSpPr>
          <p:cNvPr id="72" name="Chev2"/>
          <p:cNvSpPr/>
          <p:nvPr/>
        </p:nvSpPr>
        <p:spPr>
          <a:xfrm>
            <a:off x="4978400" y="5410200"/>
            <a:ext cx="2260600" cy="736600"/>
          </a:xfrm>
          <a:prstGeom prst="chevron">
            <a:avLst>
              <a:gd name="adj" fmla="val 30000"/>
            </a:avLst>
          </a:prstGeom>
          <a:solidFill>
            <a:srgbClr val="1E5DAA"/>
          </a:solidFill>
          <a:ln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Armazena-</a:t>
            </a:r>
          </a:p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mento</a:t>
            </a:r>
          </a:p>
        </p:txBody>
      </p:sp>
      <p:sp>
        <p:nvSpPr>
          <p:cNvPr id="73" name="Chev3"/>
          <p:cNvSpPr/>
          <p:nvPr/>
        </p:nvSpPr>
        <p:spPr>
          <a:xfrm>
            <a:off x="7086600" y="5410200"/>
            <a:ext cx="2260600" cy="736600"/>
          </a:xfrm>
          <a:prstGeom prst="chevron">
            <a:avLst>
              <a:gd name="adj" fmla="val 30000"/>
            </a:avLst>
          </a:prstGeom>
          <a:solidFill>
            <a:srgbClr val="103E82"/>
          </a:solidFill>
          <a:ln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Transfor-</a:t>
            </a:r>
          </a:p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mação</a:t>
            </a:r>
          </a:p>
        </p:txBody>
      </p:sp>
      <p:sp>
        <p:nvSpPr>
          <p:cNvPr id="74" name="Chev4"/>
          <p:cNvSpPr/>
          <p:nvPr/>
        </p:nvSpPr>
        <p:spPr>
          <a:xfrm>
            <a:off x="9194800" y="5410200"/>
            <a:ext cx="2260600" cy="736600"/>
          </a:xfrm>
          <a:prstGeom prst="chevron">
            <a:avLst>
              <a:gd name="adj" fmla="val 30000"/>
            </a:avLst>
          </a:prstGeom>
          <a:solidFill>
            <a:srgbClr val="003B7A"/>
          </a:solidFill>
          <a:ln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65" name="PyrTxt65"/>
          <p:cNvSpPr txBox="1"/>
          <p:nvPr/>
        </p:nvSpPr>
        <p:spPr>
          <a:xfrm>
            <a:off x="7493000" y="3225800"/>
            <a:ext cx="30480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1400" b="0" dirty="0">
                <a:solidFill>
                  <a:srgbClr val="FFFFFF"/>
                </a:solidFill>
                <a:latin typeface="Calibri"/>
              </a:rPr>
              <a:t>Análise &amp; BI</a:t>
            </a:r>
          </a:p>
        </p:txBody>
      </p:sp>
      <p:sp>
        <p:nvSpPr>
          <p:cNvPr id="66" name="PyrTxt66"/>
          <p:cNvSpPr txBox="1"/>
          <p:nvPr/>
        </p:nvSpPr>
        <p:spPr>
          <a:xfrm>
            <a:off x="6731000" y="3987800"/>
            <a:ext cx="45720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Engenharia de Dados</a:t>
            </a:r>
          </a:p>
        </p:txBody>
      </p:sp>
    </p:spTree>
    <p:extLst>
      <p:ext uri="{BB962C8B-B14F-4D97-AF65-F5344CB8AC3E}">
        <p14:creationId xmlns:p14="http://schemas.microsoft.com/office/powerpoint/2010/main" val="43591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 o dado é água, o engenheiro constrói o encanamento;
o cientista analisa o que a água revela.
Sem encanamento, não há análise.</a:t>
            </a:r>
          </a:p>
        </p:txBody>
      </p:sp>
      <p:sp>
        <p:nvSpPr>
          <p:cNvPr id="50" name="MB0"/>
          <p:cNvSpPr/>
          <p:nvPr/>
        </p:nvSpPr>
        <p:spPr>
          <a:xfrm>
            <a:off x="1016000" y="4800600"/>
            <a:ext cx="3048000" cy="1219200"/>
          </a:xfrm>
          <a:prstGeom prst="roundRect">
            <a:avLst>
              <a:gd name="adj" fmla="val 8000"/>
            </a:avLst>
          </a:prstGeom>
          <a:solidFill>
            <a:srgbClr val="6FA3DC"/>
          </a:solidFill>
          <a:ln>
            <a:noFill/>
          </a:ln>
        </p:spPr>
        <p:txBody>
          <a:bodyPr wrap="square" lIns="20000" tIns="0" rIns="20000" bIns="0" anchor="ctr"/>
          <a:lstStyle/>
          <a:p>
            <a:pPr algn="ctr">
              <a:spcAft>
                <a:spcPts val="200"/>
              </a:spcAft>
            </a:pPr>
            <a:r>
              <a:rPr lang="pt-BR" sz="2000" b="1" dirty="0">
                <a:solidFill>
                  <a:srgbClr val="FFFFFF"/>
                </a:solidFill>
                <a:latin typeface="Calibri"/>
              </a:rPr>
              <a:t>Água</a:t>
            </a:r>
          </a:p>
          <a:p>
            <a:pPr algn="ctr"/>
            <a:r>
              <a:rPr lang="pt-BR" sz="1400" dirty="0">
                <a:solidFill>
                  <a:srgbClr val="DCE7F5"/>
                </a:solidFill>
                <a:latin typeface="Calibri"/>
              </a:rPr>
              <a:t>o dado bruto</a:t>
            </a:r>
          </a:p>
        </p:txBody>
      </p:sp>
      <p:sp>
        <p:nvSpPr>
          <p:cNvPr id="60" name="MA0"/>
          <p:cNvSpPr/>
          <p:nvPr/>
        </p:nvSpPr>
        <p:spPr>
          <a:xfrm>
            <a:off x="4165600" y="5232400"/>
            <a:ext cx="304800" cy="3556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MB1"/>
          <p:cNvSpPr/>
          <p:nvPr/>
        </p:nvSpPr>
        <p:spPr>
          <a:xfrm>
            <a:off x="4572000" y="4800600"/>
            <a:ext cx="3048000" cy="1219200"/>
          </a:xfrm>
          <a:prstGeom prst="roundRect">
            <a:avLst>
              <a:gd name="adj" fmla="val 8000"/>
            </a:avLst>
          </a:prstGeom>
          <a:solidFill>
            <a:srgbClr val="4A86CB"/>
          </a:solidFill>
          <a:ln>
            <a:noFill/>
          </a:ln>
        </p:spPr>
        <p:txBody>
          <a:bodyPr wrap="square" lIns="20000" tIns="0" rIns="20000" bIns="0" anchor="ctr"/>
          <a:lstStyle/>
          <a:p>
            <a:pPr algn="ctr">
              <a:spcAft>
                <a:spcPts val="200"/>
              </a:spcAft>
            </a:pPr>
            <a:r>
              <a:rPr lang="pt-BR" sz="2000" b="1" dirty="0">
                <a:solidFill>
                  <a:srgbClr val="FFFFFF"/>
                </a:solidFill>
                <a:latin typeface="Calibri"/>
              </a:rPr>
              <a:t>Encanamento</a:t>
            </a:r>
          </a:p>
          <a:p>
            <a:pPr algn="ctr"/>
            <a:r>
              <a:rPr lang="pt-BR" sz="1400" dirty="0">
                <a:solidFill>
                  <a:srgbClr val="DCE7F5"/>
                </a:solidFill>
                <a:latin typeface="Calibri"/>
              </a:rPr>
              <a:t>o engenheiro constrói</a:t>
            </a:r>
          </a:p>
        </p:txBody>
      </p:sp>
      <p:sp>
        <p:nvSpPr>
          <p:cNvPr id="61" name="MA1"/>
          <p:cNvSpPr/>
          <p:nvPr/>
        </p:nvSpPr>
        <p:spPr>
          <a:xfrm>
            <a:off x="7721600" y="5232400"/>
            <a:ext cx="304800" cy="3556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MB2"/>
          <p:cNvSpPr/>
          <p:nvPr/>
        </p:nvSpPr>
        <p:spPr>
          <a:xfrm>
            <a:off x="8128000" y="4800600"/>
            <a:ext cx="3048000" cy="1219200"/>
          </a:xfrm>
          <a:prstGeom prst="roundRect">
            <a:avLst>
              <a:gd name="adj" fmla="val 8000"/>
            </a:avLst>
          </a:prstGeom>
          <a:solidFill>
            <a:srgbClr val="2E6BB0"/>
          </a:solidFill>
          <a:ln>
            <a:noFill/>
          </a:ln>
        </p:spPr>
        <p:txBody>
          <a:bodyPr wrap="square" lIns="20000" tIns="0" rIns="20000" bIns="0" anchor="ctr"/>
          <a:lstStyle/>
          <a:p>
            <a:pPr algn="ctr">
              <a:spcAft>
                <a:spcPts val="200"/>
              </a:spcAft>
            </a:pPr>
            <a:r>
              <a:rPr lang="pt-BR" sz="2000" b="1" dirty="0">
                <a:solidFill>
                  <a:srgbClr val="FFFFFF"/>
                </a:solidFill>
                <a:latin typeface="Calibri"/>
              </a:rPr>
              <a:t>Análise</a:t>
            </a:r>
          </a:p>
          <a:p>
            <a:pPr algn="ctr"/>
            <a:r>
              <a:rPr lang="pt-BR" sz="1400" dirty="0">
                <a:solidFill>
                  <a:srgbClr val="DCE7F5"/>
                </a:solidFill>
                <a:latin typeface="Calibri"/>
              </a:rPr>
              <a:t>o cientista revela</a:t>
            </a:r>
          </a:p>
        </p:txBody>
      </p:sp>
      <p:sp>
        <p:nvSpPr>
          <p:cNvPr id="40" name="Quote"/>
          <p:cNvSpPr txBox="1"/>
          <p:nvPr/>
        </p:nvSpPr>
        <p:spPr>
          <a:xfrm>
            <a:off x="508000" y="762000"/>
            <a:ext cx="2794000" cy="2032000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l"/>
            <a:r>
              <a:rPr lang="pt-BR" sz="16000" b="1" dirty="0">
                <a:solidFill>
                  <a:srgbClr val="2A5A95"/>
                </a:solidFill>
                <a:latin typeface="Georgia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27347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Engenharia de Dados × Ciência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H40"/>
          <p:cNvSpPr/>
          <p:nvPr/>
        </p:nvSpPr>
        <p:spPr>
          <a:xfrm>
            <a:off x="736600" y="1778000"/>
            <a:ext cx="5143500" cy="584200"/>
          </a:xfrm>
          <a:prstGeom prst="roundRect">
            <a:avLst>
              <a:gd name="adj" fmla="val 12000"/>
            </a:avLst>
          </a:prstGeom>
          <a:solidFill>
            <a:srgbClr val="003B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Engenheiro de Dados</a:t>
            </a:r>
          </a:p>
        </p:txBody>
      </p:sp>
      <p:sp>
        <p:nvSpPr>
          <p:cNvPr id="41" name="B40"/>
          <p:cNvSpPr/>
          <p:nvPr/>
        </p:nvSpPr>
        <p:spPr>
          <a:xfrm>
            <a:off x="736600" y="2362200"/>
            <a:ext cx="5143500" cy="3175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 wrap="square" lIns="228600" tIns="203200" rIns="228600" bIns="15240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Pergunta-chave</a:t>
            </a:r>
          </a:p>
          <a:p>
            <a:pPr algn="l">
              <a:spcAft>
                <a:spcPts val="900"/>
              </a:spcAft>
            </a:pPr>
            <a:r>
              <a:rPr lang="pt-BR" sz="1500" i="1" dirty="0">
                <a:solidFill>
                  <a:srgbClr val="1A1A1A"/>
                </a:solidFill>
                <a:latin typeface="Calibri"/>
              </a:rPr>
              <a:t>“Como entrego este dado confiável, na hora certa?”</a:t>
            </a:r>
          </a:p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003B7A"/>
                </a:solidFill>
                <a:latin typeface="Calibri"/>
              </a:rPr>
              <a:t>Entregáveis</a:t>
            </a:r>
          </a:p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Pipeline, tabela tratada, API de dados e data warehouse.</a:t>
            </a:r>
          </a:p>
        </p:txBody>
      </p:sp>
      <p:sp>
        <p:nvSpPr>
          <p:cNvPr id="50" name="H50"/>
          <p:cNvSpPr/>
          <p:nvPr/>
        </p:nvSpPr>
        <p:spPr>
          <a:xfrm>
            <a:off x="6311900" y="1778000"/>
            <a:ext cx="5143500" cy="584200"/>
          </a:xfrm>
          <a:prstGeom prst="roundRect">
            <a:avLst>
              <a:gd name="adj" fmla="val 12000"/>
            </a:avLst>
          </a:prstGeom>
          <a:solidFill>
            <a:srgbClr val="1E5DA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FFFFFF"/>
                </a:solidFill>
                <a:latin typeface="Calibri"/>
              </a:rPr>
              <a:t>Cientista de Dados</a:t>
            </a:r>
          </a:p>
        </p:txBody>
      </p:sp>
      <p:sp>
        <p:nvSpPr>
          <p:cNvPr id="51" name="B50"/>
          <p:cNvSpPr/>
          <p:nvPr/>
        </p:nvSpPr>
        <p:spPr>
          <a:xfrm>
            <a:off x="6311900" y="2362200"/>
            <a:ext cx="5143500" cy="3175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 wrap="square" lIns="228600" tIns="203200" rIns="228600" bIns="152400" anchor="t"/>
          <a:lstStyle/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1E5DAA"/>
                </a:solidFill>
                <a:latin typeface="Calibri"/>
              </a:rPr>
              <a:t>Pergunta-chave</a:t>
            </a:r>
          </a:p>
          <a:p>
            <a:pPr algn="l">
              <a:spcAft>
                <a:spcPts val="900"/>
              </a:spcAft>
            </a:pPr>
            <a:r>
              <a:rPr lang="pt-BR" sz="1500" i="1" dirty="0">
                <a:solidFill>
                  <a:srgbClr val="1A1A1A"/>
                </a:solidFill>
                <a:latin typeface="Calibri"/>
              </a:rPr>
              <a:t>“O que este dado revela? O que consigo prever?”</a:t>
            </a:r>
          </a:p>
          <a:p>
            <a:pPr algn="l">
              <a:spcAft>
                <a:spcPts val="300"/>
              </a:spcAft>
            </a:pPr>
            <a:r>
              <a:rPr lang="pt-BR" sz="1500" b="1" dirty="0">
                <a:solidFill>
                  <a:srgbClr val="1E5DAA"/>
                </a:solidFill>
                <a:latin typeface="Calibri"/>
              </a:rPr>
              <a:t>Entregáveis</a:t>
            </a:r>
          </a:p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Modelo, análise, relatório e previsão.</a:t>
            </a:r>
          </a:p>
        </p:txBody>
      </p:sp>
      <p:sp>
        <p:nvSpPr>
          <p:cNvPr id="60" name="XB"/>
          <p:cNvSpPr/>
          <p:nvPr/>
        </p:nvSpPr>
        <p:spPr>
          <a:xfrm>
            <a:off x="5816600" y="1905000"/>
            <a:ext cx="558800" cy="558800"/>
          </a:xfrm>
          <a:prstGeom prst="ellipse">
            <a:avLst/>
          </a:prstGeom>
          <a:solidFill>
            <a:srgbClr val="FFFFFF"/>
          </a:solidFill>
          <a:ln>
            <a:solidFill>
              <a:srgbClr val="1E5DAA"/>
            </a:solidFill>
          </a:ln>
        </p:spPr>
        <p:txBody>
          <a:bodyPr lIns="0" tIns="0" rIns="0" bIns="0" anchor="ctr"/>
          <a:lstStyle/>
          <a:p>
            <a:pPr algn="ctr"/>
            <a:r>
              <a:rPr lang="pt-BR" sz="1800" b="1" dirty="0">
                <a:solidFill>
                  <a:srgbClr val="1E5DAA"/>
                </a:solidFill>
                <a:latin typeface="Calibri"/>
              </a:rPr>
              <a:t>×</a:t>
            </a:r>
          </a:p>
        </p:txBody>
      </p:sp>
      <p:sp>
        <p:nvSpPr>
          <p:cNvPr id="61" name="Note"/>
          <p:cNvSpPr/>
          <p:nvPr/>
        </p:nvSpPr>
        <p:spPr>
          <a:xfrm>
            <a:off x="736600" y="5715000"/>
            <a:ext cx="10718800" cy="5588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i="1" dirty="0">
                <a:solidFill>
                  <a:srgbClr val="003B7A"/>
                </a:solidFill>
                <a:latin typeface="Calibri"/>
              </a:rPr>
              <a:t>A fronteira varia por empresa — mas sem dado confiável, não há ciência.</a:t>
            </a:r>
          </a:p>
        </p:txBody>
      </p:sp>
    </p:spTree>
    <p:extLst>
      <p:ext uri="{BB962C8B-B14F-4D97-AF65-F5344CB8AC3E}">
        <p14:creationId xmlns:p14="http://schemas.microsoft.com/office/powerpoint/2010/main" val="174719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dado como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A distância entre o CSV bruto e o dado em que se confia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51435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Dado é produto, não subproduto: tem dono, padrão de qualidade, documentação e consumidores.</a:t>
            </a:r>
          </a:p>
          <a:p>
            <a:pPr algn="l">
              <a:spcAft>
                <a:spcPts val="10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Garbage in, garbage out: o pipeline não conserta a fonte — só propaga o erro mais rápido.</a:t>
            </a:r>
          </a:p>
          <a:p>
            <a:pPr algn="l">
              <a:spcAft>
                <a:spcPts val="1000"/>
              </a:spcAft>
            </a:pPr>
            <a:r>
              <a:rPr sz="1800" dirty="0">
                <a:solidFill>
                  <a:srgbClr val="1A1A1A"/>
                </a:solidFill>
                <a:latin typeface="Calibri"/>
              </a:rPr>
              <a:t>•  Validar cedo é barato; descobrir o erro tarde é caro.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QHead"/>
          <p:cNvSpPr txBox="1"/>
          <p:nvPr/>
        </p:nvSpPr>
        <p:spPr>
          <a:xfrm>
            <a:off x="6350000" y="2235200"/>
            <a:ext cx="50800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800" b="1" dirty="0">
                <a:solidFill>
                  <a:srgbClr val="003B7A"/>
                </a:solidFill>
                <a:latin typeface="Calibri"/>
              </a:rPr>
              <a:t>Dado confiável é:</a:t>
            </a:r>
          </a:p>
        </p:txBody>
      </p:sp>
      <p:sp>
        <p:nvSpPr>
          <p:cNvPr id="41" name="Chip0"/>
          <p:cNvSpPr/>
          <p:nvPr/>
        </p:nvSpPr>
        <p:spPr>
          <a:xfrm>
            <a:off x="6350000" y="2717800"/>
            <a:ext cx="2438400" cy="736600"/>
          </a:xfrm>
          <a:prstGeom prst="roundRect">
            <a:avLst>
              <a:gd name="adj" fmla="val 16000"/>
            </a:avLst>
          </a:prstGeom>
          <a:solidFill>
            <a:srgbClr val="5B93D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Completo</a:t>
            </a:r>
          </a:p>
        </p:txBody>
      </p:sp>
      <p:sp>
        <p:nvSpPr>
          <p:cNvPr id="42" name="Chip1"/>
          <p:cNvSpPr/>
          <p:nvPr/>
        </p:nvSpPr>
        <p:spPr>
          <a:xfrm>
            <a:off x="8991600" y="2717800"/>
            <a:ext cx="2438400" cy="736600"/>
          </a:xfrm>
          <a:prstGeom prst="roundRect">
            <a:avLst>
              <a:gd name="adj" fmla="val 16000"/>
            </a:avLst>
          </a:prstGeom>
          <a:solidFill>
            <a:srgbClr val="3E7CC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Consistente</a:t>
            </a:r>
          </a:p>
        </p:txBody>
      </p:sp>
      <p:sp>
        <p:nvSpPr>
          <p:cNvPr id="43" name="Chip2"/>
          <p:cNvSpPr/>
          <p:nvPr/>
        </p:nvSpPr>
        <p:spPr>
          <a:xfrm>
            <a:off x="6350000" y="3632200"/>
            <a:ext cx="2438400" cy="736600"/>
          </a:xfrm>
          <a:prstGeom prst="roundRect">
            <a:avLst>
              <a:gd name="adj" fmla="val 16000"/>
            </a:avLst>
          </a:prstGeom>
          <a:solidFill>
            <a:srgbClr val="1E5DA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Pontual</a:t>
            </a:r>
          </a:p>
        </p:txBody>
      </p:sp>
      <p:sp>
        <p:nvSpPr>
          <p:cNvPr id="44" name="Chip3"/>
          <p:cNvSpPr/>
          <p:nvPr/>
        </p:nvSpPr>
        <p:spPr>
          <a:xfrm>
            <a:off x="8991600" y="3632200"/>
            <a:ext cx="2438400" cy="736600"/>
          </a:xfrm>
          <a:prstGeom prst="roundRect">
            <a:avLst>
              <a:gd name="adj" fmla="val 16000"/>
            </a:avLst>
          </a:prstGeom>
          <a:solidFill>
            <a:srgbClr val="103E82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Rastreável</a:t>
            </a:r>
          </a:p>
        </p:txBody>
      </p:sp>
      <p:sp>
        <p:nvSpPr>
          <p:cNvPr id="48" name="PLbl"/>
          <p:cNvSpPr txBox="1"/>
          <p:nvPr/>
        </p:nvSpPr>
        <p:spPr>
          <a:xfrm>
            <a:off x="762000" y="4978400"/>
            <a:ext cx="6350000" cy="279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/>
            <a:r>
              <a:rPr lang="pt-BR" sz="1400" b="1" dirty="0">
                <a:solidFill>
                  <a:srgbClr val="003B7A"/>
                </a:solidFill>
                <a:latin typeface="Calibri"/>
              </a:rPr>
              <a:t>Do bruto ao confiável (com contrato)</a:t>
            </a:r>
          </a:p>
        </p:txBody>
      </p:sp>
      <p:sp>
        <p:nvSpPr>
          <p:cNvPr id="49" name="Ch0"/>
          <p:cNvSpPr/>
          <p:nvPr/>
        </p:nvSpPr>
        <p:spPr>
          <a:xfrm>
            <a:off x="762000" y="5334000"/>
            <a:ext cx="2819400" cy="736600"/>
          </a:xfrm>
          <a:prstGeom prst="chevron">
            <a:avLst>
              <a:gd name="adj" fmla="val 28000"/>
            </a:avLst>
          </a:prstGeom>
          <a:solidFill>
            <a:srgbClr val="5B93D6"/>
          </a:solidFill>
          <a:ln>
            <a:noFill/>
          </a:ln>
        </p:spPr>
        <p:txBody>
          <a:bodyPr lIns="254000" tIns="0" rIns="10160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50" name="Ch1"/>
          <p:cNvSpPr/>
          <p:nvPr/>
        </p:nvSpPr>
        <p:spPr>
          <a:xfrm>
            <a:off x="3403600" y="5334000"/>
            <a:ext cx="2819400" cy="736600"/>
          </a:xfrm>
          <a:prstGeom prst="chevron">
            <a:avLst>
              <a:gd name="adj" fmla="val 28000"/>
            </a:avLst>
          </a:prstGeom>
          <a:solidFill>
            <a:srgbClr val="3E7CC4"/>
          </a:solidFill>
          <a:ln>
            <a:noFill/>
          </a:ln>
        </p:spPr>
        <p:txBody>
          <a:bodyPr lIns="254000" tIns="0" rIns="10160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Limpo</a:t>
            </a:r>
          </a:p>
        </p:txBody>
      </p:sp>
      <p:sp>
        <p:nvSpPr>
          <p:cNvPr id="51" name="Ch2"/>
          <p:cNvSpPr/>
          <p:nvPr/>
        </p:nvSpPr>
        <p:spPr>
          <a:xfrm>
            <a:off x="6045200" y="5334000"/>
            <a:ext cx="2819400" cy="736600"/>
          </a:xfrm>
          <a:prstGeom prst="chevron">
            <a:avLst>
              <a:gd name="adj" fmla="val 28000"/>
            </a:avLst>
          </a:prstGeom>
          <a:solidFill>
            <a:srgbClr val="1E5DAA"/>
          </a:solidFill>
          <a:ln>
            <a:noFill/>
          </a:ln>
        </p:spPr>
        <p:txBody>
          <a:bodyPr lIns="254000" tIns="0" rIns="10160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52" name="Ch3"/>
          <p:cNvSpPr/>
          <p:nvPr/>
        </p:nvSpPr>
        <p:spPr>
          <a:xfrm>
            <a:off x="8686800" y="5334000"/>
            <a:ext cx="2819400" cy="736600"/>
          </a:xfrm>
          <a:prstGeom prst="chevron">
            <a:avLst>
              <a:gd name="adj" fmla="val 28000"/>
            </a:avLst>
          </a:prstGeom>
          <a:solidFill>
            <a:srgbClr val="003B7A"/>
          </a:solidFill>
          <a:ln>
            <a:noFill/>
          </a:ln>
        </p:spPr>
        <p:txBody>
          <a:bodyPr lIns="254000" tIns="0" rIns="10160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Servido</a:t>
            </a:r>
          </a:p>
        </p:txBody>
      </p:sp>
    </p:spTree>
    <p:extLst>
      <p:ext uri="{BB962C8B-B14F-4D97-AF65-F5344CB8AC3E}">
        <p14:creationId xmlns:p14="http://schemas.microsoft.com/office/powerpoint/2010/main" val="1887590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Por que programar (e não clicar)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Card0"/>
          <p:cNvSpPr/>
          <p:nvPr/>
        </p:nvSpPr>
        <p:spPr>
          <a:xfrm>
            <a:off x="736600" y="2006600"/>
            <a:ext cx="3492500" cy="2844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IcoBg0"/>
          <p:cNvSpPr/>
          <p:nvPr/>
        </p:nvSpPr>
        <p:spPr>
          <a:xfrm>
            <a:off x="2101850" y="2260600"/>
            <a:ext cx="762000" cy="762000"/>
          </a:xfrm>
          <a:prstGeom prst="ellipse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Ico0"/>
          <p:cNvSpPr/>
          <p:nvPr/>
        </p:nvSpPr>
        <p:spPr>
          <a:xfrm>
            <a:off x="2317750" y="2476500"/>
            <a:ext cx="330200" cy="33020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xt0"/>
          <p:cNvSpPr txBox="1"/>
          <p:nvPr/>
        </p:nvSpPr>
        <p:spPr>
          <a:xfrm>
            <a:off x="939800" y="3175000"/>
            <a:ext cx="3086100" cy="152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5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Automação</a:t>
            </a:r>
          </a:p>
          <a:p>
            <a:pPr algn="ctr"/>
            <a:r>
              <a:rPr lang="pt-BR" sz="1500" dirty="0">
                <a:solidFill>
                  <a:srgbClr val="333333"/>
                </a:solidFill>
                <a:latin typeface="Calibri"/>
              </a:rPr>
              <a:t>O processo roda sozinho, todo dia, sem ninguém clicando.</a:t>
            </a:r>
          </a:p>
        </p:txBody>
      </p:sp>
      <p:sp>
        <p:nvSpPr>
          <p:cNvPr id="41" name="Card1"/>
          <p:cNvSpPr/>
          <p:nvPr/>
        </p:nvSpPr>
        <p:spPr>
          <a:xfrm>
            <a:off x="4330700" y="2006600"/>
            <a:ext cx="3492500" cy="2844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IcoBg1"/>
          <p:cNvSpPr/>
          <p:nvPr/>
        </p:nvSpPr>
        <p:spPr>
          <a:xfrm>
            <a:off x="5695950" y="2260600"/>
            <a:ext cx="762000" cy="762000"/>
          </a:xfrm>
          <a:prstGeom prst="ellipse">
            <a:avLst/>
          </a:prstGeom>
          <a:solidFill>
            <a:srgbClr val="103E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Ico1"/>
          <p:cNvSpPr/>
          <p:nvPr/>
        </p:nvSpPr>
        <p:spPr>
          <a:xfrm>
            <a:off x="5911850" y="2476500"/>
            <a:ext cx="330200" cy="330200"/>
          </a:xfrm>
          <a:prstGeom prst="mathEqual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Txt1"/>
          <p:cNvSpPr txBox="1"/>
          <p:nvPr/>
        </p:nvSpPr>
        <p:spPr>
          <a:xfrm>
            <a:off x="4533900" y="3175000"/>
            <a:ext cx="3086100" cy="152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5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Reprodutibilidade</a:t>
            </a:r>
          </a:p>
          <a:p>
            <a:pPr algn="ctr"/>
            <a:r>
              <a:rPr lang="pt-BR" sz="1500" dirty="0">
                <a:solidFill>
                  <a:srgbClr val="333333"/>
                </a:solidFill>
                <a:latin typeface="Calibri"/>
              </a:rPr>
              <a:t>Mesmo código + mesmo dado = mesmo resultado, auditável.</a:t>
            </a:r>
          </a:p>
        </p:txBody>
      </p:sp>
      <p:sp>
        <p:nvSpPr>
          <p:cNvPr id="42" name="Card2"/>
          <p:cNvSpPr/>
          <p:nvPr/>
        </p:nvSpPr>
        <p:spPr>
          <a:xfrm>
            <a:off x="7924800" y="2006600"/>
            <a:ext cx="3492500" cy="2844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IcoBg2"/>
          <p:cNvSpPr/>
          <p:nvPr/>
        </p:nvSpPr>
        <p:spPr>
          <a:xfrm>
            <a:off x="9290050" y="2260600"/>
            <a:ext cx="762000" cy="76200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Ico2"/>
          <p:cNvSpPr/>
          <p:nvPr/>
        </p:nvSpPr>
        <p:spPr>
          <a:xfrm>
            <a:off x="9505950" y="2476500"/>
            <a:ext cx="330200" cy="330200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xt2"/>
          <p:cNvSpPr txBox="1"/>
          <p:nvPr/>
        </p:nvSpPr>
        <p:spPr>
          <a:xfrm>
            <a:off x="8128000" y="3175000"/>
            <a:ext cx="3086100" cy="152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5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Escala</a:t>
            </a:r>
          </a:p>
          <a:p>
            <a:pPr algn="ctr"/>
            <a:r>
              <a:rPr lang="pt-BR" sz="1500" dirty="0">
                <a:solidFill>
                  <a:srgbClr val="333333"/>
                </a:solidFill>
                <a:latin typeface="Calibri"/>
              </a:rPr>
              <a:t>O que funciona para mil linhas funciona para milhões.</a:t>
            </a:r>
          </a:p>
        </p:txBody>
      </p:sp>
      <p:sp>
        <p:nvSpPr>
          <p:cNvPr id="80" name="Note"/>
          <p:cNvSpPr/>
          <p:nvPr/>
        </p:nvSpPr>
        <p:spPr>
          <a:xfrm>
            <a:off x="736600" y="5130800"/>
            <a:ext cx="10680700" cy="711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>
            <a:noFill/>
          </a:ln>
        </p:spPr>
        <p:txBody>
          <a:bodyPr lIns="228600" tIns="0" rIns="228600" bIns="0" anchor="ctr"/>
          <a:lstStyle/>
          <a:p>
            <a:pPr algn="ctr"/>
            <a:r>
              <a:rPr lang="pt-BR" sz="1500" dirty="0">
                <a:solidFill>
                  <a:srgbClr val="1A1A1A"/>
                </a:solidFill>
                <a:latin typeface="Calibri"/>
              </a:rPr>
              <a:t>Excel resolve o caso pequeno e único; </a:t>
            </a:r>
            <a:r>
              <a:rPr lang="pt-BR" sz="1500" b="1" dirty="0">
                <a:solidFill>
                  <a:srgbClr val="003B7A"/>
                </a:solidFill>
                <a:latin typeface="Calibri"/>
              </a:rPr>
              <a:t>Engenharia de Dados vive do repetível em escala.</a:t>
            </a:r>
          </a:p>
        </p:txBody>
      </p:sp>
    </p:spTree>
    <p:extLst>
      <p:ext uri="{BB962C8B-B14F-4D97-AF65-F5344CB8AC3E}">
        <p14:creationId xmlns:p14="http://schemas.microsoft.com/office/powerpoint/2010/main" val="116852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mapa das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Cada uma entra num momento — você não precisa de todas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Card0"/>
          <p:cNvSpPr/>
          <p:nvPr/>
        </p:nvSpPr>
        <p:spPr>
          <a:xfrm>
            <a:off x="736600" y="2133600"/>
            <a:ext cx="5207000" cy="14986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Name0"/>
          <p:cNvSpPr/>
          <p:nvPr/>
        </p:nvSpPr>
        <p:spPr>
          <a:xfrm>
            <a:off x="736600" y="2133600"/>
            <a:ext cx="1905000" cy="1498600"/>
          </a:xfrm>
          <a:prstGeom prst="roundRect">
            <a:avLst>
              <a:gd name="adj" fmla="val 6000"/>
            </a:avLst>
          </a:prstGeom>
          <a:solidFill>
            <a:srgbClr val="003B7A"/>
          </a:solidFill>
          <a:ln>
            <a:noFill/>
          </a:ln>
        </p:spPr>
        <p:txBody>
          <a:bodyPr wrap="square" lIns="101600" tIns="0" rIns="10160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Python</a:t>
            </a:r>
          </a:p>
          <a:p>
            <a:pPr algn="ctr"/>
            <a:r>
              <a:rPr lang="pt-BR" sz="1100" b="1" dirty="0">
                <a:solidFill>
                  <a:srgbClr val="BFD6F0"/>
                </a:solidFill>
                <a:latin typeface="Calibri"/>
              </a:rPr>
              <a:t>NOSSO FOCO</a:t>
            </a:r>
          </a:p>
        </p:txBody>
      </p:sp>
      <p:sp>
        <p:nvSpPr>
          <p:cNvPr id="60" name="Desc0"/>
          <p:cNvSpPr txBox="1"/>
          <p:nvPr/>
        </p:nvSpPr>
        <p:spPr>
          <a:xfrm>
            <a:off x="2819400" y="2286000"/>
            <a:ext cx="2946400" cy="1193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A linguagem de cola: lê de tudo, transforma, integra, orquestra.</a:t>
            </a:r>
          </a:p>
        </p:txBody>
      </p:sp>
      <p:sp>
        <p:nvSpPr>
          <p:cNvPr id="41" name="Card1"/>
          <p:cNvSpPr/>
          <p:nvPr/>
        </p:nvSpPr>
        <p:spPr>
          <a:xfrm>
            <a:off x="6172200" y="2133600"/>
            <a:ext cx="5207000" cy="14986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Name1"/>
          <p:cNvSpPr/>
          <p:nvPr/>
        </p:nvSpPr>
        <p:spPr>
          <a:xfrm>
            <a:off x="6172200" y="2133600"/>
            <a:ext cx="1905000" cy="1498600"/>
          </a:xfrm>
          <a:prstGeom prst="roundRect">
            <a:avLst>
              <a:gd name="adj" fmla="val 6000"/>
            </a:avLst>
          </a:prstGeom>
          <a:solidFill>
            <a:srgbClr val="1E5DAA"/>
          </a:solidFill>
          <a:ln>
            <a:noFill/>
          </a:ln>
        </p:spPr>
        <p:txBody>
          <a:bodyPr wrap="square" lIns="101600" tIns="0" rIns="10160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61" name="Desc1"/>
          <p:cNvSpPr txBox="1"/>
          <p:nvPr/>
        </p:nvSpPr>
        <p:spPr>
          <a:xfrm>
            <a:off x="8255000" y="2286000"/>
            <a:ext cx="2946400" cy="1193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A língua franca dos dados estruturados. Inegociável na carreira.</a:t>
            </a:r>
          </a:p>
        </p:txBody>
      </p:sp>
      <p:sp>
        <p:nvSpPr>
          <p:cNvPr id="42" name="Card2"/>
          <p:cNvSpPr/>
          <p:nvPr/>
        </p:nvSpPr>
        <p:spPr>
          <a:xfrm>
            <a:off x="736600" y="3810000"/>
            <a:ext cx="5207000" cy="14986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Name2"/>
          <p:cNvSpPr/>
          <p:nvPr/>
        </p:nvSpPr>
        <p:spPr>
          <a:xfrm>
            <a:off x="736600" y="3810000"/>
            <a:ext cx="1905000" cy="1498600"/>
          </a:xfrm>
          <a:prstGeom prst="roundRect">
            <a:avLst>
              <a:gd name="adj" fmla="val 6000"/>
            </a:avLst>
          </a:prstGeom>
          <a:solidFill>
            <a:srgbClr val="3E7CC4"/>
          </a:solidFill>
          <a:ln>
            <a:noFill/>
          </a:ln>
        </p:spPr>
        <p:txBody>
          <a:bodyPr wrap="square" lIns="101600" tIns="0" rIns="10160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Scala / Java</a:t>
            </a:r>
          </a:p>
        </p:txBody>
      </p:sp>
      <p:sp>
        <p:nvSpPr>
          <p:cNvPr id="62" name="Desc2"/>
          <p:cNvSpPr txBox="1"/>
          <p:nvPr/>
        </p:nvSpPr>
        <p:spPr>
          <a:xfrm>
            <a:off x="2819400" y="3962400"/>
            <a:ext cx="2946400" cy="1193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O motor das plataformas de larga escala (Spark, Hadoop).</a:t>
            </a:r>
          </a:p>
        </p:txBody>
      </p:sp>
      <p:sp>
        <p:nvSpPr>
          <p:cNvPr id="43" name="Card3"/>
          <p:cNvSpPr/>
          <p:nvPr/>
        </p:nvSpPr>
        <p:spPr>
          <a:xfrm>
            <a:off x="6172200" y="3810000"/>
            <a:ext cx="5207000" cy="14986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Name3"/>
          <p:cNvSpPr/>
          <p:nvPr/>
        </p:nvSpPr>
        <p:spPr>
          <a:xfrm>
            <a:off x="6172200" y="3810000"/>
            <a:ext cx="1905000" cy="1498600"/>
          </a:xfrm>
          <a:prstGeom prst="roundRect">
            <a:avLst>
              <a:gd name="adj" fmla="val 6000"/>
            </a:avLst>
          </a:prstGeom>
          <a:solidFill>
            <a:srgbClr val="5B93D6"/>
          </a:solidFill>
          <a:ln>
            <a:noFill/>
          </a:ln>
        </p:spPr>
        <p:txBody>
          <a:bodyPr wrap="square" lIns="101600" tIns="0" rIns="10160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Go · Rust · Bash</a:t>
            </a:r>
          </a:p>
        </p:txBody>
      </p:sp>
      <p:sp>
        <p:nvSpPr>
          <p:cNvPr id="63" name="Desc3"/>
          <p:cNvSpPr txBox="1"/>
          <p:nvPr/>
        </p:nvSpPr>
        <p:spPr>
          <a:xfrm>
            <a:off x="8255000" y="3962400"/>
            <a:ext cx="2946400" cy="1193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500" dirty="0">
                <a:solidFill>
                  <a:srgbClr val="1A1A1A"/>
                </a:solidFill>
                <a:latin typeface="Calibri"/>
              </a:rPr>
              <a:t>Nichos: alta performance, CLIs e automação de infraestrutura.</a:t>
            </a:r>
          </a:p>
        </p:txBody>
      </p:sp>
      <p:sp>
        <p:nvSpPr>
          <p:cNvPr id="80" name="Note"/>
          <p:cNvSpPr/>
          <p:nvPr/>
        </p:nvSpPr>
        <p:spPr>
          <a:xfrm>
            <a:off x="736600" y="5588000"/>
            <a:ext cx="9906000" cy="609600"/>
          </a:xfrm>
          <a:prstGeom prst="roundRect">
            <a:avLst>
              <a:gd name="adj" fmla="val 16000"/>
            </a:avLst>
          </a:prstGeom>
          <a:solidFill>
            <a:srgbClr val="EAF1FB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i="1" dirty="0">
                <a:solidFill>
                  <a:srgbClr val="003B7A"/>
                </a:solidFill>
                <a:latin typeface="Calibri"/>
              </a:rPr>
              <a:t>A pergunta certa não é “qual a melhor linguagem”, mas “qual entra agora”.</a:t>
            </a:r>
          </a:p>
        </p:txBody>
      </p:sp>
    </p:spTree>
    <p:extLst>
      <p:ext uri="{BB962C8B-B14F-4D97-AF65-F5344CB8AC3E}">
        <p14:creationId xmlns:p14="http://schemas.microsoft.com/office/powerpoint/2010/main" val="77153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Compilada × Interpretada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r"/>
          <p:cNvSpPr/>
          <p:nvPr/>
        </p:nvSpPr>
        <p:spPr>
          <a:xfrm>
            <a:off x="736600" y="1778000"/>
            <a:ext cx="5143500" cy="3454400"/>
          </a:xfrm>
          <a:prstGeom prst="roundRect">
            <a:avLst>
              <a:gd name="adj" fmla="val 50000"/>
            </a:avLst>
          </a:prstGeom>
          <a:solidFill>
            <a:srgbClr val="F2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"/>
          <p:cNvSpPr/>
          <p:nvPr/>
        </p:nvSpPr>
        <p:spPr>
          <a:xfrm>
            <a:off x="736600" y="1778000"/>
            <a:ext cx="5143500" cy="787400"/>
          </a:xfrm>
          <a:prstGeom prst="roundRect">
            <a:avLst>
              <a:gd name="adj" fmla="val 50000"/>
            </a:avLst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"/>
          <p:cNvSpPr txBox="1"/>
          <p:nvPr/>
        </p:nvSpPr>
        <p:spPr>
          <a:xfrm>
            <a:off x="736600" y="1930400"/>
            <a:ext cx="5143500" cy="330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pt-BR" sz="2000" b="1" i="0" dirty="0">
                <a:solidFill>
                  <a:srgbClr val="FFFFFF"/>
                </a:solidFill>
                <a:latin typeface="Calibri"/>
              </a:rPr>
              <a:t>Interpretada</a:t>
            </a:r>
          </a:p>
        </p:txBody>
      </p:sp>
      <p:sp>
        <p:nvSpPr>
          <p:cNvPr id="43" name="t"/>
          <p:cNvSpPr txBox="1"/>
          <p:nvPr/>
        </p:nvSpPr>
        <p:spPr>
          <a:xfrm>
            <a:off x="736600" y="2260600"/>
            <a:ext cx="51435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pt-BR" sz="1400" b="0" i="0" dirty="0">
                <a:solidFill>
                  <a:srgbClr val="D7E5F7"/>
                </a:solidFill>
                <a:latin typeface="Calibri"/>
              </a:rPr>
              <a:t>Python</a:t>
            </a:r>
          </a:p>
        </p:txBody>
      </p:sp>
      <p:sp>
        <p:nvSpPr>
          <p:cNvPr id="44" name="t"/>
          <p:cNvSpPr txBox="1"/>
          <p:nvPr/>
        </p:nvSpPr>
        <p:spPr>
          <a:xfrm>
            <a:off x="1016000" y="2819400"/>
            <a:ext cx="45847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b="1" i="0" dirty="0">
                <a:solidFill>
                  <a:srgbClr val="003B7A"/>
                </a:solidFill>
                <a:latin typeface="Calibri"/>
              </a:rPr>
              <a:t>Velocidade de escrita</a:t>
            </a:r>
          </a:p>
        </p:txBody>
      </p:sp>
      <p:sp>
        <p:nvSpPr>
          <p:cNvPr id="45" name="r"/>
          <p:cNvSpPr/>
          <p:nvPr/>
        </p:nvSpPr>
        <p:spPr>
          <a:xfrm>
            <a:off x="1016000" y="3124200"/>
            <a:ext cx="4584700" cy="2286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r"/>
          <p:cNvSpPr/>
          <p:nvPr/>
        </p:nvSpPr>
        <p:spPr>
          <a:xfrm>
            <a:off x="1016000" y="3124200"/>
            <a:ext cx="4127500" cy="228600"/>
          </a:xfrm>
          <a:prstGeom prst="roundRect">
            <a:avLst>
              <a:gd name="adj" fmla="val 50000"/>
            </a:avLst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"/>
          <p:cNvSpPr txBox="1"/>
          <p:nvPr/>
        </p:nvSpPr>
        <p:spPr>
          <a:xfrm>
            <a:off x="1016000" y="3708400"/>
            <a:ext cx="45847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b="1" i="0" dirty="0">
                <a:solidFill>
                  <a:srgbClr val="003B7A"/>
                </a:solidFill>
                <a:latin typeface="Calibri"/>
              </a:rPr>
              <a:t>Velocidade de execução</a:t>
            </a:r>
          </a:p>
        </p:txBody>
      </p:sp>
      <p:sp>
        <p:nvSpPr>
          <p:cNvPr id="48" name="r"/>
          <p:cNvSpPr/>
          <p:nvPr/>
        </p:nvSpPr>
        <p:spPr>
          <a:xfrm>
            <a:off x="1016000" y="4013200"/>
            <a:ext cx="4584700" cy="2286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r"/>
          <p:cNvSpPr/>
          <p:nvPr/>
        </p:nvSpPr>
        <p:spPr>
          <a:xfrm>
            <a:off x="1016000" y="4013200"/>
            <a:ext cx="2057400" cy="228600"/>
          </a:xfrm>
          <a:prstGeom prst="roundRect">
            <a:avLst>
              <a:gd name="adj" fmla="val 50000"/>
            </a:avLst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r"/>
          <p:cNvSpPr/>
          <p:nvPr/>
        </p:nvSpPr>
        <p:spPr>
          <a:xfrm>
            <a:off x="6311900" y="1778000"/>
            <a:ext cx="5143500" cy="3454400"/>
          </a:xfrm>
          <a:prstGeom prst="roundRect">
            <a:avLst>
              <a:gd name="adj" fmla="val 50000"/>
            </a:avLst>
          </a:prstGeom>
          <a:solidFill>
            <a:srgbClr val="F2F7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"/>
          <p:cNvSpPr/>
          <p:nvPr/>
        </p:nvSpPr>
        <p:spPr>
          <a:xfrm>
            <a:off x="6311900" y="1778000"/>
            <a:ext cx="5143500" cy="787400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 txBox="1"/>
          <p:nvPr/>
        </p:nvSpPr>
        <p:spPr>
          <a:xfrm>
            <a:off x="6311900" y="1930400"/>
            <a:ext cx="5143500" cy="3302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pt-BR" sz="2000" b="1" i="0" dirty="0">
                <a:solidFill>
                  <a:srgbClr val="FFFFFF"/>
                </a:solidFill>
                <a:latin typeface="Calibri"/>
              </a:rPr>
              <a:t>Compilada</a:t>
            </a:r>
          </a:p>
        </p:txBody>
      </p:sp>
      <p:sp>
        <p:nvSpPr>
          <p:cNvPr id="53" name="t"/>
          <p:cNvSpPr txBox="1"/>
          <p:nvPr/>
        </p:nvSpPr>
        <p:spPr>
          <a:xfrm>
            <a:off x="6311900" y="2260600"/>
            <a:ext cx="51435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/>
            <a:r>
              <a:rPr lang="pt-BR" sz="1400" b="0" i="0" dirty="0">
                <a:solidFill>
                  <a:srgbClr val="D7E5F7"/>
                </a:solidFill>
                <a:latin typeface="Calibri"/>
              </a:rPr>
              <a:t>Java · Scala · C</a:t>
            </a:r>
          </a:p>
        </p:txBody>
      </p:sp>
      <p:sp>
        <p:nvSpPr>
          <p:cNvPr id="54" name="t"/>
          <p:cNvSpPr txBox="1"/>
          <p:nvPr/>
        </p:nvSpPr>
        <p:spPr>
          <a:xfrm>
            <a:off x="6591300" y="2819400"/>
            <a:ext cx="45847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b="1" i="0" dirty="0">
                <a:solidFill>
                  <a:srgbClr val="003B7A"/>
                </a:solidFill>
                <a:latin typeface="Calibri"/>
              </a:rPr>
              <a:t>Velocidade de escrita</a:t>
            </a:r>
          </a:p>
        </p:txBody>
      </p:sp>
      <p:sp>
        <p:nvSpPr>
          <p:cNvPr id="55" name="r"/>
          <p:cNvSpPr/>
          <p:nvPr/>
        </p:nvSpPr>
        <p:spPr>
          <a:xfrm>
            <a:off x="6591300" y="3124200"/>
            <a:ext cx="4584700" cy="2286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r"/>
          <p:cNvSpPr/>
          <p:nvPr/>
        </p:nvSpPr>
        <p:spPr>
          <a:xfrm>
            <a:off x="6591300" y="3124200"/>
            <a:ext cx="2527300" cy="228600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"/>
          <p:cNvSpPr txBox="1"/>
          <p:nvPr/>
        </p:nvSpPr>
        <p:spPr>
          <a:xfrm>
            <a:off x="6591300" y="3708400"/>
            <a:ext cx="4584700" cy="254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b="1" i="0" dirty="0">
                <a:solidFill>
                  <a:srgbClr val="003B7A"/>
                </a:solidFill>
                <a:latin typeface="Calibri"/>
              </a:rPr>
              <a:t>Velocidade de execução</a:t>
            </a:r>
          </a:p>
        </p:txBody>
      </p:sp>
      <p:sp>
        <p:nvSpPr>
          <p:cNvPr id="58" name="r"/>
          <p:cNvSpPr/>
          <p:nvPr/>
        </p:nvSpPr>
        <p:spPr>
          <a:xfrm>
            <a:off x="6591300" y="4013200"/>
            <a:ext cx="4584700" cy="2286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"/>
          <p:cNvSpPr/>
          <p:nvPr/>
        </p:nvSpPr>
        <p:spPr>
          <a:xfrm>
            <a:off x="6591300" y="4013200"/>
            <a:ext cx="4216400" cy="228600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r"/>
          <p:cNvSpPr/>
          <p:nvPr/>
        </p:nvSpPr>
        <p:spPr>
          <a:xfrm>
            <a:off x="736600" y="5435600"/>
            <a:ext cx="10718800" cy="6604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"/>
          <p:cNvSpPr txBox="1"/>
          <p:nvPr/>
        </p:nvSpPr>
        <p:spPr>
          <a:xfrm>
            <a:off x="939800" y="5435600"/>
            <a:ext cx="10312400" cy="6604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/>
            <a:r>
              <a:rPr lang="pt-BR" sz="1500" b="0" i="1" dirty="0">
                <a:solidFill>
                  <a:srgbClr val="003B7A"/>
                </a:solidFill>
                <a:latin typeface="Calibri"/>
              </a:rPr>
              <a:t>Usamos Python pela produtividade — com motores compilados por baixo quando o volume aperta. Ex.: o pandas faz o trabalho pesado em C otimizado.</a:t>
            </a:r>
          </a:p>
        </p:txBody>
      </p:sp>
    </p:spTree>
    <p:extLst>
      <p:ext uri="{BB962C8B-B14F-4D97-AF65-F5344CB8AC3E}">
        <p14:creationId xmlns:p14="http://schemas.microsoft.com/office/powerpoint/2010/main" val="242454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Python: os blocos mínimos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Cada bloco é uma peça de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21082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t"/>
          <p:cNvSpPr/>
          <p:nvPr/>
        </p:nvSpPr>
        <p:spPr>
          <a:xfrm>
            <a:off x="736600" y="2108200"/>
            <a:ext cx="127000" cy="1574800"/>
          </a:xfrm>
          <a:prstGeom prst="rect">
            <a:avLst/>
          </a:prstGeom>
          <a:solidFill>
            <a:srgbClr val="5B9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i"/>
          <p:cNvSpPr txBox="1"/>
          <p:nvPr/>
        </p:nvSpPr>
        <p:spPr>
          <a:xfrm>
            <a:off x="1066800" y="2260600"/>
            <a:ext cx="4699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Variáveis e tipos</a:t>
            </a:r>
          </a:p>
        </p:txBody>
      </p:sp>
      <p:sp>
        <p:nvSpPr>
          <p:cNvPr id="43" name="cc"/>
          <p:cNvSpPr/>
          <p:nvPr/>
        </p:nvSpPr>
        <p:spPr>
          <a:xfrm>
            <a:off x="1066800" y="2641600"/>
            <a:ext cx="4572000" cy="4318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</p:spPr>
        <p:txBody>
          <a:bodyPr wrap="none" lIns="152400" tIns="0" rIns="101600" bIns="0" anchor="ctr"/>
          <a:lstStyle/>
          <a:p>
            <a:pPr algn="l"/>
            <a:r>
              <a:rPr lang="pt-BR" sz="1400" b="1" dirty="0">
                <a:solidFill>
                  <a:srgbClr val="7FD6A0"/>
                </a:solidFill>
                <a:latin typeface="Consolas"/>
              </a:rPr>
              <a:t>str · int · float · bool · None</a:t>
            </a:r>
          </a:p>
        </p:txBody>
      </p:sp>
      <p:sp>
        <p:nvSpPr>
          <p:cNvPr id="44" name="su"/>
          <p:cNvSpPr txBox="1"/>
          <p:nvPr/>
        </p:nvSpPr>
        <p:spPr>
          <a:xfrm>
            <a:off x="1066800" y="3149600"/>
            <a:ext cx="4648200" cy="431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None é o valor ausente, onipresente em dados</a:t>
            </a:r>
          </a:p>
        </p:txBody>
      </p:sp>
      <p:sp>
        <p:nvSpPr>
          <p:cNvPr id="45" name="bg"/>
          <p:cNvSpPr/>
          <p:nvPr/>
        </p:nvSpPr>
        <p:spPr>
          <a:xfrm>
            <a:off x="6172200" y="21082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st"/>
          <p:cNvSpPr/>
          <p:nvPr/>
        </p:nvSpPr>
        <p:spPr>
          <a:xfrm>
            <a:off x="6172200" y="2108200"/>
            <a:ext cx="127000" cy="1574800"/>
          </a:xfrm>
          <a:prstGeom prst="rect">
            <a:avLst/>
          </a:prstGeom>
          <a:solidFill>
            <a:srgbClr val="3E7C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i"/>
          <p:cNvSpPr txBox="1"/>
          <p:nvPr/>
        </p:nvSpPr>
        <p:spPr>
          <a:xfrm>
            <a:off x="6502400" y="2260600"/>
            <a:ext cx="4699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Condicionais</a:t>
            </a:r>
          </a:p>
        </p:txBody>
      </p:sp>
      <p:sp>
        <p:nvSpPr>
          <p:cNvPr id="48" name="cc"/>
          <p:cNvSpPr/>
          <p:nvPr/>
        </p:nvSpPr>
        <p:spPr>
          <a:xfrm>
            <a:off x="6502400" y="2641600"/>
            <a:ext cx="4572000" cy="4318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</p:spPr>
        <p:txBody>
          <a:bodyPr wrap="none" lIns="152400" tIns="0" rIns="101600" bIns="0" anchor="ctr"/>
          <a:lstStyle/>
          <a:p>
            <a:pPr algn="l"/>
            <a:r>
              <a:rPr lang="pt-BR" sz="1400" b="1" dirty="0">
                <a:solidFill>
                  <a:srgbClr val="7FD6A0"/>
                </a:solidFill>
                <a:latin typeface="Consolas"/>
              </a:rPr>
              <a:t>if / elif / else</a:t>
            </a:r>
          </a:p>
        </p:txBody>
      </p:sp>
      <p:sp>
        <p:nvSpPr>
          <p:cNvPr id="49" name="su"/>
          <p:cNvSpPr txBox="1"/>
          <p:nvPr/>
        </p:nvSpPr>
        <p:spPr>
          <a:xfrm>
            <a:off x="6502400" y="3149600"/>
            <a:ext cx="4648200" cy="431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Decidir o que fazer conforme o dado</a:t>
            </a:r>
          </a:p>
        </p:txBody>
      </p:sp>
      <p:sp>
        <p:nvSpPr>
          <p:cNvPr id="50" name="bg"/>
          <p:cNvSpPr/>
          <p:nvPr/>
        </p:nvSpPr>
        <p:spPr>
          <a:xfrm>
            <a:off x="736600" y="38354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t"/>
          <p:cNvSpPr/>
          <p:nvPr/>
        </p:nvSpPr>
        <p:spPr>
          <a:xfrm>
            <a:off x="736600" y="3835400"/>
            <a:ext cx="127000" cy="15748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i"/>
          <p:cNvSpPr txBox="1"/>
          <p:nvPr/>
        </p:nvSpPr>
        <p:spPr>
          <a:xfrm>
            <a:off x="1066800" y="3987800"/>
            <a:ext cx="4699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Laços (loops)</a:t>
            </a:r>
          </a:p>
        </p:txBody>
      </p:sp>
      <p:sp>
        <p:nvSpPr>
          <p:cNvPr id="53" name="cc"/>
          <p:cNvSpPr/>
          <p:nvPr/>
        </p:nvSpPr>
        <p:spPr>
          <a:xfrm>
            <a:off x="1066800" y="4368800"/>
            <a:ext cx="4572000" cy="4318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</p:spPr>
        <p:txBody>
          <a:bodyPr wrap="none" lIns="152400" tIns="0" rIns="101600" bIns="0" anchor="ctr"/>
          <a:lstStyle/>
          <a:p>
            <a:pPr algn="l"/>
            <a:r>
              <a:rPr lang="pt-BR" sz="1400" b="1" dirty="0">
                <a:solidFill>
                  <a:srgbClr val="7FD6A0"/>
                </a:solidFill>
                <a:latin typeface="Consolas"/>
              </a:rPr>
              <a:t>for linha in arquivo:</a:t>
            </a:r>
          </a:p>
        </p:txBody>
      </p:sp>
      <p:sp>
        <p:nvSpPr>
          <p:cNvPr id="54" name="su"/>
          <p:cNvSpPr txBox="1"/>
          <p:nvPr/>
        </p:nvSpPr>
        <p:spPr>
          <a:xfrm>
            <a:off x="1066800" y="4876800"/>
            <a:ext cx="4648200" cy="431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Repetir sobre muitos itens — o coração do pipeline</a:t>
            </a:r>
          </a:p>
        </p:txBody>
      </p:sp>
      <p:sp>
        <p:nvSpPr>
          <p:cNvPr id="55" name="bg"/>
          <p:cNvSpPr/>
          <p:nvPr/>
        </p:nvSpPr>
        <p:spPr>
          <a:xfrm>
            <a:off x="6172200" y="38354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t"/>
          <p:cNvSpPr/>
          <p:nvPr/>
        </p:nvSpPr>
        <p:spPr>
          <a:xfrm>
            <a:off x="6172200" y="3835400"/>
            <a:ext cx="127000" cy="1574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i"/>
          <p:cNvSpPr txBox="1"/>
          <p:nvPr/>
        </p:nvSpPr>
        <p:spPr>
          <a:xfrm>
            <a:off x="6502400" y="3987800"/>
            <a:ext cx="4699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Funções</a:t>
            </a:r>
          </a:p>
        </p:txBody>
      </p:sp>
      <p:sp>
        <p:nvSpPr>
          <p:cNvPr id="58" name="cc"/>
          <p:cNvSpPr/>
          <p:nvPr/>
        </p:nvSpPr>
        <p:spPr>
          <a:xfrm>
            <a:off x="6502400" y="4368800"/>
            <a:ext cx="4572000" cy="4318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</p:spPr>
        <p:txBody>
          <a:bodyPr wrap="none" lIns="152400" tIns="0" rIns="101600" bIns="0" anchor="ctr"/>
          <a:lstStyle/>
          <a:p>
            <a:pPr algn="l"/>
            <a:r>
              <a:rPr lang="pt-BR" sz="1400" b="1" dirty="0">
                <a:solidFill>
                  <a:srgbClr val="7FD6A0"/>
                </a:solidFill>
                <a:latin typeface="Consolas"/>
              </a:rPr>
              <a:t>def transformar(x): ...</a:t>
            </a:r>
          </a:p>
        </p:txBody>
      </p:sp>
      <p:sp>
        <p:nvSpPr>
          <p:cNvPr id="59" name="su"/>
          <p:cNvSpPr txBox="1"/>
          <p:nvPr/>
        </p:nvSpPr>
        <p:spPr>
          <a:xfrm>
            <a:off x="6502400" y="4876800"/>
            <a:ext cx="4648200" cy="4318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Empacotar lógica com nome, para reutilizar e testar</a:t>
            </a:r>
          </a:p>
        </p:txBody>
      </p:sp>
      <p:sp>
        <p:nvSpPr>
          <p:cNvPr id="60" name="note"/>
          <p:cNvSpPr/>
          <p:nvPr/>
        </p:nvSpPr>
        <p:spPr>
          <a:xfrm>
            <a:off x="736600" y="5588000"/>
            <a:ext cx="10718800" cy="584200"/>
          </a:xfrm>
          <a:prstGeom prst="roundRect">
            <a:avLst>
              <a:gd name="adj" fmla="val 16000"/>
            </a:avLst>
          </a:prstGeom>
          <a:solidFill>
            <a:srgbClr val="EAF1FB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b="1" dirty="0">
                <a:solidFill>
                  <a:srgbClr val="003B7A"/>
                </a:solidFill>
                <a:latin typeface="Calibri"/>
              </a:rPr>
              <a:t>Indentação não é estética em Python — é sintaxe.</a:t>
            </a:r>
          </a:p>
        </p:txBody>
      </p:sp>
    </p:spTree>
    <p:extLst>
      <p:ext uri="{BB962C8B-B14F-4D97-AF65-F5344CB8AC3E}">
        <p14:creationId xmlns:p14="http://schemas.microsoft.com/office/powerpoint/2010/main" val="2321713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Estruturas que todo pipeline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21082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t"/>
          <p:cNvSpPr/>
          <p:nvPr/>
        </p:nvSpPr>
        <p:spPr>
          <a:xfrm>
            <a:off x="736600" y="2108200"/>
            <a:ext cx="127000" cy="1574800"/>
          </a:xfrm>
          <a:prstGeom prst="rect">
            <a:avLst/>
          </a:prstGeom>
          <a:solidFill>
            <a:srgbClr val="5B9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i"/>
          <p:cNvSpPr txBox="1"/>
          <p:nvPr/>
        </p:nvSpPr>
        <p:spPr>
          <a:xfrm>
            <a:off x="1066800" y="2260600"/>
            <a:ext cx="3175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Lista</a:t>
            </a:r>
          </a:p>
        </p:txBody>
      </p:sp>
      <p:sp>
        <p:nvSpPr>
          <p:cNvPr id="43" name="cc"/>
          <p:cNvSpPr/>
          <p:nvPr/>
        </p:nvSpPr>
        <p:spPr>
          <a:xfrm>
            <a:off x="4038600" y="2235200"/>
            <a:ext cx="1600200" cy="406400"/>
          </a:xfrm>
          <a:prstGeom prst="roundRect">
            <a:avLst>
              <a:gd name="adj" fmla="val 14000"/>
            </a:avLst>
          </a:prstGeom>
          <a:solidFill>
            <a:srgbClr val="0E2A47"/>
          </a:solidFill>
          <a:ln>
            <a:noFill/>
          </a:ln>
        </p:spPr>
        <p:txBody>
          <a:bodyPr wrap="none" lIns="101600" tIns="0" rIns="76200" bIns="0" anchor="ctr"/>
          <a:lstStyle/>
          <a:p>
            <a:pPr algn="ctr"/>
            <a:r>
              <a:rPr lang="pt-BR" sz="1300" b="1" dirty="0">
                <a:solidFill>
                  <a:srgbClr val="7FD6A0"/>
                </a:solidFill>
                <a:latin typeface="Consolas"/>
              </a:rPr>
              <a:t>[10, 20, 30]</a:t>
            </a:r>
          </a:p>
        </p:txBody>
      </p:sp>
      <p:sp>
        <p:nvSpPr>
          <p:cNvPr id="44" name="su"/>
          <p:cNvSpPr txBox="1"/>
          <p:nvPr/>
        </p:nvSpPr>
        <p:spPr>
          <a:xfrm>
            <a:off x="1066800" y="2794000"/>
            <a:ext cx="4572000" cy="736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Sequência ordenada e mutável: linhas de um arquivo, lote de registros.</a:t>
            </a:r>
          </a:p>
        </p:txBody>
      </p:sp>
      <p:sp>
        <p:nvSpPr>
          <p:cNvPr id="45" name="bg"/>
          <p:cNvSpPr/>
          <p:nvPr/>
        </p:nvSpPr>
        <p:spPr>
          <a:xfrm>
            <a:off x="6172200" y="21082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st"/>
          <p:cNvSpPr/>
          <p:nvPr/>
        </p:nvSpPr>
        <p:spPr>
          <a:xfrm>
            <a:off x="6172200" y="2108200"/>
            <a:ext cx="127000" cy="1574800"/>
          </a:xfrm>
          <a:prstGeom prst="rect">
            <a:avLst/>
          </a:prstGeom>
          <a:solidFill>
            <a:srgbClr val="3E7C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i"/>
          <p:cNvSpPr txBox="1"/>
          <p:nvPr/>
        </p:nvSpPr>
        <p:spPr>
          <a:xfrm>
            <a:off x="6502400" y="2260600"/>
            <a:ext cx="3175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Dicionário</a:t>
            </a:r>
          </a:p>
        </p:txBody>
      </p:sp>
      <p:sp>
        <p:nvSpPr>
          <p:cNvPr id="48" name="cc"/>
          <p:cNvSpPr/>
          <p:nvPr/>
        </p:nvSpPr>
        <p:spPr>
          <a:xfrm>
            <a:off x="9474200" y="2235200"/>
            <a:ext cx="1600200" cy="406400"/>
          </a:xfrm>
          <a:prstGeom prst="roundRect">
            <a:avLst>
              <a:gd name="adj" fmla="val 14000"/>
            </a:avLst>
          </a:prstGeom>
          <a:solidFill>
            <a:srgbClr val="0E2A47"/>
          </a:solidFill>
          <a:ln>
            <a:noFill/>
          </a:ln>
        </p:spPr>
        <p:txBody>
          <a:bodyPr wrap="none" lIns="101600" tIns="0" rIns="76200" bIns="0" anchor="ctr"/>
          <a:lstStyle/>
          <a:p>
            <a:pPr algn="ctr"/>
            <a:r>
              <a:rPr lang="pt-BR" sz="1300" b="1" dirty="0">
                <a:solidFill>
                  <a:srgbClr val="7FD6A0"/>
                </a:solidFill>
                <a:latin typeface="Consolas"/>
              </a:rPr>
              <a:t>{"id": 1}</a:t>
            </a:r>
          </a:p>
        </p:txBody>
      </p:sp>
      <p:sp>
        <p:nvSpPr>
          <p:cNvPr id="49" name="su"/>
          <p:cNvSpPr txBox="1"/>
          <p:nvPr/>
        </p:nvSpPr>
        <p:spPr>
          <a:xfrm>
            <a:off x="6502400" y="2794000"/>
            <a:ext cx="4572000" cy="736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Pares chave:valor — um registro; a forma do JSON.</a:t>
            </a:r>
          </a:p>
        </p:txBody>
      </p:sp>
      <p:sp>
        <p:nvSpPr>
          <p:cNvPr id="50" name="bg"/>
          <p:cNvSpPr/>
          <p:nvPr/>
        </p:nvSpPr>
        <p:spPr>
          <a:xfrm>
            <a:off x="736600" y="38354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t"/>
          <p:cNvSpPr/>
          <p:nvPr/>
        </p:nvSpPr>
        <p:spPr>
          <a:xfrm>
            <a:off x="736600" y="3835400"/>
            <a:ext cx="127000" cy="15748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i"/>
          <p:cNvSpPr txBox="1"/>
          <p:nvPr/>
        </p:nvSpPr>
        <p:spPr>
          <a:xfrm>
            <a:off x="1066800" y="3987800"/>
            <a:ext cx="3175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Tupla</a:t>
            </a:r>
          </a:p>
        </p:txBody>
      </p:sp>
      <p:sp>
        <p:nvSpPr>
          <p:cNvPr id="53" name="cc"/>
          <p:cNvSpPr/>
          <p:nvPr/>
        </p:nvSpPr>
        <p:spPr>
          <a:xfrm>
            <a:off x="4038600" y="3962400"/>
            <a:ext cx="1600200" cy="406400"/>
          </a:xfrm>
          <a:prstGeom prst="roundRect">
            <a:avLst>
              <a:gd name="adj" fmla="val 14000"/>
            </a:avLst>
          </a:prstGeom>
          <a:solidFill>
            <a:srgbClr val="0E2A47"/>
          </a:solidFill>
          <a:ln>
            <a:noFill/>
          </a:ln>
        </p:spPr>
        <p:txBody>
          <a:bodyPr wrap="none" lIns="101600" tIns="0" rIns="76200" bIns="0" anchor="ctr"/>
          <a:lstStyle/>
          <a:p>
            <a:pPr algn="ctr"/>
            <a:r>
              <a:rPr lang="pt-BR" sz="1300" b="1" dirty="0">
                <a:solidFill>
                  <a:srgbClr val="7FD6A0"/>
                </a:solidFill>
                <a:latin typeface="Consolas"/>
              </a:rPr>
              <a:t>(lat, lon)</a:t>
            </a:r>
          </a:p>
        </p:txBody>
      </p:sp>
      <p:sp>
        <p:nvSpPr>
          <p:cNvPr id="54" name="su"/>
          <p:cNvSpPr txBox="1"/>
          <p:nvPr/>
        </p:nvSpPr>
        <p:spPr>
          <a:xfrm>
            <a:off x="1066800" y="4521200"/>
            <a:ext cx="4572000" cy="736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Sequência imutável: coordenada, chave composta.</a:t>
            </a:r>
          </a:p>
        </p:txBody>
      </p:sp>
      <p:sp>
        <p:nvSpPr>
          <p:cNvPr id="55" name="bg"/>
          <p:cNvSpPr/>
          <p:nvPr/>
        </p:nvSpPr>
        <p:spPr>
          <a:xfrm>
            <a:off x="6172200" y="3835400"/>
            <a:ext cx="5207000" cy="15748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t"/>
          <p:cNvSpPr/>
          <p:nvPr/>
        </p:nvSpPr>
        <p:spPr>
          <a:xfrm>
            <a:off x="6172200" y="3835400"/>
            <a:ext cx="127000" cy="1574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i"/>
          <p:cNvSpPr txBox="1"/>
          <p:nvPr/>
        </p:nvSpPr>
        <p:spPr>
          <a:xfrm>
            <a:off x="6502400" y="3987800"/>
            <a:ext cx="31750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/>
            <a:r>
              <a:rPr lang="pt-BR" sz="1700" b="1" dirty="0">
                <a:solidFill>
                  <a:srgbClr val="003B7A"/>
                </a:solidFill>
                <a:latin typeface="Calibri"/>
              </a:rPr>
              <a:t>Conjunto (set)</a:t>
            </a:r>
          </a:p>
        </p:txBody>
      </p:sp>
      <p:sp>
        <p:nvSpPr>
          <p:cNvPr id="58" name="cc"/>
          <p:cNvSpPr/>
          <p:nvPr/>
        </p:nvSpPr>
        <p:spPr>
          <a:xfrm>
            <a:off x="9474200" y="3962400"/>
            <a:ext cx="1600200" cy="406400"/>
          </a:xfrm>
          <a:prstGeom prst="roundRect">
            <a:avLst>
              <a:gd name="adj" fmla="val 14000"/>
            </a:avLst>
          </a:prstGeom>
          <a:solidFill>
            <a:srgbClr val="0E2A47"/>
          </a:solidFill>
          <a:ln>
            <a:noFill/>
          </a:ln>
        </p:spPr>
        <p:txBody>
          <a:bodyPr wrap="none" lIns="101600" tIns="0" rIns="76200" bIns="0" anchor="ctr"/>
          <a:lstStyle/>
          <a:p>
            <a:pPr algn="ctr"/>
            <a:r>
              <a:rPr lang="pt-BR" sz="1300" b="1" dirty="0">
                <a:solidFill>
                  <a:srgbClr val="7FD6A0"/>
                </a:solidFill>
                <a:latin typeface="Consolas"/>
              </a:rPr>
              <a:t>{1, 2, 3}</a:t>
            </a:r>
          </a:p>
        </p:txBody>
      </p:sp>
      <p:sp>
        <p:nvSpPr>
          <p:cNvPr id="59" name="su"/>
          <p:cNvSpPr txBox="1"/>
          <p:nvPr/>
        </p:nvSpPr>
        <p:spPr>
          <a:xfrm>
            <a:off x="6502400" y="4521200"/>
            <a:ext cx="4572000" cy="736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400" dirty="0">
                <a:solidFill>
                  <a:srgbClr val="444444"/>
                </a:solidFill>
                <a:latin typeface="Calibri"/>
              </a:rPr>
              <a:t>Sem ordem e sem duplicatas: deduplicação de graça.</a:t>
            </a:r>
          </a:p>
        </p:txBody>
      </p:sp>
      <p:sp>
        <p:nvSpPr>
          <p:cNvPr id="60" name="note"/>
          <p:cNvSpPr/>
          <p:nvPr/>
        </p:nvSpPr>
        <p:spPr>
          <a:xfrm>
            <a:off x="736600" y="5613400"/>
            <a:ext cx="10718800" cy="584200"/>
          </a:xfrm>
          <a:prstGeom prst="roundRect">
            <a:avLst>
              <a:gd name="adj" fmla="val 16000"/>
            </a:avLst>
          </a:prstGeom>
          <a:solidFill>
            <a:srgbClr val="EAF1FB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b="1" dirty="0">
                <a:solidFill>
                  <a:srgbClr val="003B7A"/>
                </a:solidFill>
                <a:latin typeface="Calibri"/>
              </a:rPr>
              <a:t>Uma lista de dicionários é a forma natural de uma tabela.</a:t>
            </a:r>
          </a:p>
        </p:txBody>
      </p:sp>
    </p:spTree>
    <p:extLst>
      <p:ext uri="{BB962C8B-B14F-4D97-AF65-F5344CB8AC3E}">
        <p14:creationId xmlns:p14="http://schemas.microsoft.com/office/powerpoint/2010/main" val="126693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Seu primeiro pipeline: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Onde tudo que vimos hoje converge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card"/>
          <p:cNvSpPr/>
          <p:nvPr/>
        </p:nvSpPr>
        <p:spPr>
          <a:xfrm>
            <a:off x="736600" y="2235200"/>
            <a:ext cx="3530600" cy="32004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hb"/>
          <p:cNvSpPr/>
          <p:nvPr/>
        </p:nvSpPr>
        <p:spPr>
          <a:xfrm>
            <a:off x="736600" y="2235200"/>
            <a:ext cx="3530600" cy="965200"/>
          </a:xfrm>
          <a:custGeom>
            <a:avLst/>
            <a:gdLst/>
            <a:ahLst/>
            <a:cxnLst/>
            <a:rect l="0" t="0" r="0" b="0"/>
            <a:pathLst>
              <a:path w="3530600" h="965200">
                <a:moveTo>
                  <a:pt x="101600" y="0"/>
                </a:moveTo>
                <a:lnTo>
                  <a:pt x="3530600" y="0"/>
                </a:lnTo>
                <a:lnTo>
                  <a:pt x="3530600" y="965200"/>
                </a:lnTo>
                <a:lnTo>
                  <a:pt x="0" y="965200"/>
                </a:lnTo>
                <a:lnTo>
                  <a:pt x="0" y="101600"/>
                </a:lnTo>
                <a:close/>
              </a:path>
            </a:pathLst>
          </a:custGeom>
          <a:solidFill>
            <a:srgbClr val="5B93D6"/>
          </a:solidFill>
          <a:ln>
            <a:noFill/>
          </a:ln>
        </p:spPr>
        <p:txBody>
          <a:bodyPr wrap="square" lIns="889000" tIns="0" rIns="101600" bIns="0" anchor="ctr" anchorCtr="0"/>
          <a:lstStyle/>
          <a:p>
            <a:endParaRPr/>
          </a:p>
        </p:txBody>
      </p:sp>
      <p:sp>
        <p:nvSpPr>
          <p:cNvPr id="42" name="lb"/>
          <p:cNvSpPr/>
          <p:nvPr/>
        </p:nvSpPr>
        <p:spPr>
          <a:xfrm>
            <a:off x="914400" y="2463800"/>
            <a:ext cx="558800" cy="55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5B93D6"/>
                </a:solidFill>
                <a:latin typeface="Calibri"/>
              </a:rPr>
              <a:t>E</a:t>
            </a:r>
          </a:p>
        </p:txBody>
      </p:sp>
      <p:sp>
        <p:nvSpPr>
          <p:cNvPr id="43" name="ds"/>
          <p:cNvSpPr txBox="1"/>
          <p:nvPr/>
        </p:nvSpPr>
        <p:spPr>
          <a:xfrm>
            <a:off x="965200" y="3429000"/>
            <a:ext cx="3098800" cy="1803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Ler a fonte:</a:t>
            </a:r>
          </a:p>
          <a:p>
            <a:pPr algn="l">
              <a:spcBef>
                <a:spcPts val="600"/>
              </a:spcBef>
            </a:pPr>
            <a:r>
              <a:rPr lang="pt-BR" sz="1500" b="1" dirty="0">
                <a:solidFill>
                  <a:srgbClr val="5B93D6"/>
                </a:solidFill>
                <a:latin typeface="Consolas"/>
              </a:rPr>
              <a:t>vendas.csv bruto</a:t>
            </a:r>
          </a:p>
        </p:txBody>
      </p:sp>
      <p:sp>
        <p:nvSpPr>
          <p:cNvPr id="44" name="ar"/>
          <p:cNvSpPr/>
          <p:nvPr/>
        </p:nvSpPr>
        <p:spPr>
          <a:xfrm>
            <a:off x="4279900" y="3632200"/>
            <a:ext cx="279400" cy="4064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card"/>
          <p:cNvSpPr/>
          <p:nvPr/>
        </p:nvSpPr>
        <p:spPr>
          <a:xfrm>
            <a:off x="4572000" y="2235200"/>
            <a:ext cx="3530600" cy="32004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hb"/>
          <p:cNvSpPr/>
          <p:nvPr/>
        </p:nvSpPr>
        <p:spPr>
          <a:xfrm>
            <a:off x="4572000" y="2235200"/>
            <a:ext cx="3530600" cy="965200"/>
          </a:xfrm>
          <a:custGeom>
            <a:avLst/>
            <a:gdLst/>
            <a:ahLst/>
            <a:cxnLst/>
            <a:rect l="0" t="0" r="0" b="0"/>
            <a:pathLst>
              <a:path w="3530600" h="965200">
                <a:moveTo>
                  <a:pt x="101600" y="0"/>
                </a:moveTo>
                <a:lnTo>
                  <a:pt x="3530600" y="0"/>
                </a:lnTo>
                <a:lnTo>
                  <a:pt x="3530600" y="965200"/>
                </a:lnTo>
                <a:lnTo>
                  <a:pt x="0" y="965200"/>
                </a:lnTo>
                <a:lnTo>
                  <a:pt x="0" y="101600"/>
                </a:lnTo>
                <a:close/>
              </a:path>
            </a:pathLst>
          </a:custGeom>
          <a:solidFill>
            <a:srgbClr val="1E5DAA"/>
          </a:solidFill>
          <a:ln>
            <a:noFill/>
          </a:ln>
        </p:spPr>
        <p:txBody>
          <a:bodyPr wrap="square" lIns="889000" tIns="0" rIns="101600" bIns="0" anchor="ctr" anchorCtr="0"/>
          <a:lstStyle/>
          <a:p>
            <a:endParaRPr/>
          </a:p>
        </p:txBody>
      </p:sp>
      <p:sp>
        <p:nvSpPr>
          <p:cNvPr id="47" name="lb"/>
          <p:cNvSpPr/>
          <p:nvPr/>
        </p:nvSpPr>
        <p:spPr>
          <a:xfrm>
            <a:off x="4749800" y="2463800"/>
            <a:ext cx="558800" cy="55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1E5DAA"/>
                </a:solidFill>
                <a:latin typeface="Calibri"/>
              </a:rPr>
              <a:t>T</a:t>
            </a:r>
          </a:p>
        </p:txBody>
      </p:sp>
      <p:sp>
        <p:nvSpPr>
          <p:cNvPr id="48" name="ds"/>
          <p:cNvSpPr txBox="1"/>
          <p:nvPr/>
        </p:nvSpPr>
        <p:spPr>
          <a:xfrm>
            <a:off x="4800600" y="3429000"/>
            <a:ext cx="3098800" cy="1803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Padronizar datas, remover ausentes e negativos, deduplicar e enriquecer.</a:t>
            </a:r>
          </a:p>
        </p:txBody>
      </p:sp>
      <p:sp>
        <p:nvSpPr>
          <p:cNvPr id="49" name="ar"/>
          <p:cNvSpPr/>
          <p:nvPr/>
        </p:nvSpPr>
        <p:spPr>
          <a:xfrm>
            <a:off x="8115300" y="3632200"/>
            <a:ext cx="279400" cy="406400"/>
          </a:xfrm>
          <a:prstGeom prst="rightArrow">
            <a:avLst/>
          </a:prstGeom>
          <a:solidFill>
            <a:srgbClr val="9BB8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card"/>
          <p:cNvSpPr/>
          <p:nvPr/>
        </p:nvSpPr>
        <p:spPr>
          <a:xfrm>
            <a:off x="8407400" y="2235200"/>
            <a:ext cx="3530600" cy="32004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hb"/>
          <p:cNvSpPr/>
          <p:nvPr/>
        </p:nvSpPr>
        <p:spPr>
          <a:xfrm>
            <a:off x="8407400" y="2235200"/>
            <a:ext cx="3530600" cy="965200"/>
          </a:xfrm>
          <a:custGeom>
            <a:avLst/>
            <a:gdLst/>
            <a:ahLst/>
            <a:cxnLst/>
            <a:rect l="0" t="0" r="0" b="0"/>
            <a:pathLst>
              <a:path w="3530600" h="965200">
                <a:moveTo>
                  <a:pt x="101600" y="0"/>
                </a:moveTo>
                <a:lnTo>
                  <a:pt x="3530600" y="0"/>
                </a:lnTo>
                <a:lnTo>
                  <a:pt x="3530600" y="965200"/>
                </a:lnTo>
                <a:lnTo>
                  <a:pt x="0" y="965200"/>
                </a:lnTo>
                <a:lnTo>
                  <a:pt x="0" y="101600"/>
                </a:lnTo>
                <a:close/>
              </a:path>
            </a:pathLst>
          </a:custGeom>
          <a:solidFill>
            <a:srgbClr val="003B7A"/>
          </a:solidFill>
          <a:ln>
            <a:noFill/>
          </a:ln>
        </p:spPr>
        <p:txBody>
          <a:bodyPr wrap="square" lIns="889000" tIns="0" rIns="101600" bIns="0" anchor="ctr" anchorCtr="0"/>
          <a:lstStyle/>
          <a:p>
            <a:endParaRPr/>
          </a:p>
        </p:txBody>
      </p:sp>
      <p:sp>
        <p:nvSpPr>
          <p:cNvPr id="52" name="lb"/>
          <p:cNvSpPr/>
          <p:nvPr/>
        </p:nvSpPr>
        <p:spPr>
          <a:xfrm>
            <a:off x="8585200" y="2463800"/>
            <a:ext cx="558800" cy="55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2000" b="1" dirty="0">
                <a:solidFill>
                  <a:srgbClr val="003B7A"/>
                </a:solidFill>
                <a:latin typeface="Calibri"/>
              </a:rPr>
              <a:t>L</a:t>
            </a:r>
          </a:p>
        </p:txBody>
      </p:sp>
      <p:sp>
        <p:nvSpPr>
          <p:cNvPr id="53" name="ds"/>
          <p:cNvSpPr txBox="1"/>
          <p:nvPr/>
        </p:nvSpPr>
        <p:spPr>
          <a:xfrm>
            <a:off x="8636000" y="3429000"/>
            <a:ext cx="3098800" cy="18034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Salvar o dado confiável, com contrato de colunas e tipos.</a:t>
            </a:r>
          </a:p>
        </p:txBody>
      </p:sp>
      <p:sp>
        <p:nvSpPr>
          <p:cNvPr id="54" name="strip"/>
          <p:cNvSpPr/>
          <p:nvPr/>
        </p:nvSpPr>
        <p:spPr>
          <a:xfrm>
            <a:off x="736600" y="5664200"/>
            <a:ext cx="10718800" cy="558800"/>
          </a:xfrm>
          <a:prstGeom prst="roundRect">
            <a:avLst>
              <a:gd name="adj" fmla="val 18000"/>
            </a:avLst>
          </a:prstGeom>
          <a:solidFill>
            <a:srgbClr val="003B7A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  <a:latin typeface="Calibri"/>
              </a:rPr>
              <a:t>Extrair → Transformar → Carregar: o esqueleto que repetiremos o curso inteiro.</a:t>
            </a:r>
          </a:p>
        </p:txBody>
      </p:sp>
      <p:sp>
        <p:nvSpPr>
          <p:cNvPr id="90" name="stname0"/>
          <p:cNvSpPr txBox="1"/>
          <p:nvPr/>
        </p:nvSpPr>
        <p:spPr>
          <a:xfrm>
            <a:off x="1625600" y="2235200"/>
            <a:ext cx="2540000" cy="965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</a:rPr>
              <a:t>Extrair</a:t>
            </a:r>
          </a:p>
        </p:txBody>
      </p:sp>
      <p:sp>
        <p:nvSpPr>
          <p:cNvPr id="91" name="stname1"/>
          <p:cNvSpPr txBox="1"/>
          <p:nvPr/>
        </p:nvSpPr>
        <p:spPr>
          <a:xfrm>
            <a:off x="5461000" y="2235200"/>
            <a:ext cx="2540000" cy="965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</a:rPr>
              <a:t>Transformar</a:t>
            </a:r>
          </a:p>
        </p:txBody>
      </p:sp>
      <p:sp>
        <p:nvSpPr>
          <p:cNvPr id="92" name="stname2"/>
          <p:cNvSpPr txBox="1"/>
          <p:nvPr/>
        </p:nvSpPr>
        <p:spPr>
          <a:xfrm>
            <a:off x="9296400" y="2235200"/>
            <a:ext cx="2540000" cy="965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</a:rPr>
              <a:t>Carregar</a:t>
            </a:r>
          </a:p>
        </p:txBody>
      </p:sp>
    </p:spTree>
    <p:extLst>
      <p:ext uri="{BB962C8B-B14F-4D97-AF65-F5344CB8AC3E}">
        <p14:creationId xmlns:p14="http://schemas.microsoft.com/office/powerpoint/2010/main" val="921251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que torna isto “engenharia”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2032000"/>
            <a:ext cx="5181600" cy="16002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t"/>
          <p:cNvSpPr/>
          <p:nvPr/>
        </p:nvSpPr>
        <p:spPr>
          <a:xfrm>
            <a:off x="736600" y="2032000"/>
            <a:ext cx="127000" cy="1600200"/>
          </a:xfrm>
          <a:prstGeom prst="rect">
            <a:avLst/>
          </a:prstGeom>
          <a:solidFill>
            <a:srgbClr val="5B9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x"/>
          <p:cNvSpPr txBox="1"/>
          <p:nvPr/>
        </p:nvSpPr>
        <p:spPr>
          <a:xfrm>
            <a:off x="1092200" y="2235200"/>
            <a:ext cx="4622800" cy="1219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Idempotência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Rodar duas vezes dá o mesmo resultado, sem duplicar dados.</a:t>
            </a:r>
          </a:p>
        </p:txBody>
      </p:sp>
      <p:sp>
        <p:nvSpPr>
          <p:cNvPr id="43" name="bg"/>
          <p:cNvSpPr/>
          <p:nvPr/>
        </p:nvSpPr>
        <p:spPr>
          <a:xfrm>
            <a:off x="6172200" y="2032000"/>
            <a:ext cx="5181600" cy="16002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st"/>
          <p:cNvSpPr/>
          <p:nvPr/>
        </p:nvSpPr>
        <p:spPr>
          <a:xfrm>
            <a:off x="6172200" y="2032000"/>
            <a:ext cx="127000" cy="1600200"/>
          </a:xfrm>
          <a:prstGeom prst="rect">
            <a:avLst/>
          </a:prstGeom>
          <a:solidFill>
            <a:srgbClr val="3E7C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tx"/>
          <p:cNvSpPr txBox="1"/>
          <p:nvPr/>
        </p:nvSpPr>
        <p:spPr>
          <a:xfrm>
            <a:off x="6527800" y="2235200"/>
            <a:ext cx="4622800" cy="1219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Tratamento de erro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Fonte malformada falha de forma clara — não corrompe em silêncio.</a:t>
            </a:r>
          </a:p>
        </p:txBody>
      </p:sp>
      <p:sp>
        <p:nvSpPr>
          <p:cNvPr id="46" name="bg"/>
          <p:cNvSpPr/>
          <p:nvPr/>
        </p:nvSpPr>
        <p:spPr>
          <a:xfrm>
            <a:off x="736600" y="3860800"/>
            <a:ext cx="5181600" cy="16002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st"/>
          <p:cNvSpPr/>
          <p:nvPr/>
        </p:nvSpPr>
        <p:spPr>
          <a:xfrm>
            <a:off x="736600" y="3860800"/>
            <a:ext cx="127000" cy="16002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tx"/>
          <p:cNvSpPr txBox="1"/>
          <p:nvPr/>
        </p:nvSpPr>
        <p:spPr>
          <a:xfrm>
            <a:off x="1092200" y="4064000"/>
            <a:ext cx="4622800" cy="1219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Rastreabilidade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Conto quantas linhas entraram, saíram e por que cada uma foi descartada.</a:t>
            </a:r>
          </a:p>
        </p:txBody>
      </p:sp>
      <p:sp>
        <p:nvSpPr>
          <p:cNvPr id="49" name="bg"/>
          <p:cNvSpPr/>
          <p:nvPr/>
        </p:nvSpPr>
        <p:spPr>
          <a:xfrm>
            <a:off x="6172200" y="3860800"/>
            <a:ext cx="5181600" cy="16002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st"/>
          <p:cNvSpPr/>
          <p:nvPr/>
        </p:nvSpPr>
        <p:spPr>
          <a:xfrm>
            <a:off x="6172200" y="3860800"/>
            <a:ext cx="127000" cy="1600200"/>
          </a:xfrm>
          <a:prstGeom prst="rect">
            <a:avLst/>
          </a:prstGeom>
          <a:solidFill>
            <a:srgbClr val="103E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x"/>
          <p:cNvSpPr txBox="1"/>
          <p:nvPr/>
        </p:nvSpPr>
        <p:spPr>
          <a:xfrm>
            <a:off x="6527800" y="4064000"/>
            <a:ext cx="4622800" cy="1219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lang="pt-BR" sz="1800" b="1" dirty="0">
                <a:solidFill>
                  <a:srgbClr val="003B7A"/>
                </a:solidFill>
                <a:latin typeface="Calibri"/>
              </a:rPr>
              <a:t>Observabilidade</a:t>
            </a:r>
          </a:p>
          <a:p>
            <a:pPr algn="l"/>
            <a:r>
              <a:rPr lang="pt-BR" sz="1500" dirty="0">
                <a:solidFill>
                  <a:srgbClr val="333333"/>
                </a:solidFill>
                <a:latin typeface="Calibri"/>
              </a:rPr>
              <a:t>O pipeline registra o que fez (logs) para eu confiar sem assistir rodar.</a:t>
            </a:r>
          </a:p>
        </p:txBody>
      </p:sp>
      <p:sp>
        <p:nvSpPr>
          <p:cNvPr id="52" name="note"/>
          <p:cNvSpPr/>
          <p:nvPr/>
        </p:nvSpPr>
        <p:spPr>
          <a:xfrm>
            <a:off x="736600" y="5715000"/>
            <a:ext cx="10718800" cy="558800"/>
          </a:xfrm>
          <a:prstGeom prst="roundRect">
            <a:avLst>
              <a:gd name="adj" fmla="val 18000"/>
            </a:avLst>
          </a:prstGeom>
          <a:solidFill>
            <a:srgbClr val="003B7A"/>
          </a:solidFill>
          <a:ln>
            <a:noFill/>
          </a:ln>
        </p:spPr>
        <p:txBody>
          <a:bodyPr lIns="203200" tIns="0" rIns="203200" bIns="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  <a:latin typeface="Calibri"/>
              </a:rPr>
              <a:t>Um script roda uma vez; um pipeline roda muitas — de forma confiável.</a:t>
            </a:r>
          </a:p>
        </p:txBody>
      </p:sp>
    </p:spTree>
    <p:extLst>
      <p:ext uri="{BB962C8B-B14F-4D97-AF65-F5344CB8AC3E}">
        <p14:creationId xmlns:p14="http://schemas.microsoft.com/office/powerpoint/2010/main" val="586419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0" y="20116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Encontro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91840"/>
            <a:ext cx="9997135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0000" y="6537960"/>
            <a:ext cx="1016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 err="1">
                <a:solidFill>
                  <a:srgbClr val="555555"/>
                </a:solidFill>
                <a:latin typeface="Calibri"/>
              </a:rPr>
              <a:t>Linguagens</a:t>
            </a:r>
            <a:r>
              <a:rPr sz="1100" dirty="0">
                <a:solidFill>
                  <a:srgbClr val="555555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555555"/>
                </a:solidFill>
                <a:latin typeface="Calibri"/>
              </a:rPr>
              <a:t>Programação</a:t>
            </a:r>
            <a:r>
              <a:rPr sz="1100" dirty="0">
                <a:solidFill>
                  <a:srgbClr val="555555"/>
                </a:solidFill>
                <a:latin typeface="Calibri"/>
              </a:rPr>
              <a:t> para </a:t>
            </a:r>
            <a:r>
              <a:rPr sz="1100" dirty="0" err="1">
                <a:solidFill>
                  <a:srgbClr val="555555"/>
                </a:solidFill>
                <a:latin typeface="Calibri"/>
              </a:rPr>
              <a:t>Engenharia</a:t>
            </a:r>
            <a:r>
              <a:rPr sz="1100" dirty="0">
                <a:solidFill>
                  <a:srgbClr val="555555"/>
                </a:solidFill>
                <a:latin typeface="Calibri"/>
              </a:rPr>
              <a:t> de Dados  •  </a:t>
            </a:r>
            <a:r>
              <a:rPr sz="1100" dirty="0" err="1">
                <a:solidFill>
                  <a:srgbClr val="555555"/>
                </a:solidFill>
                <a:latin typeface="Calibri"/>
              </a:rPr>
              <a:t>Laboratório</a:t>
            </a:r>
            <a:endParaRPr sz="110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40" name="codechip"/>
          <p:cNvSpPr/>
          <p:nvPr/>
        </p:nvSpPr>
        <p:spPr>
          <a:xfrm>
            <a:off x="1460500" y="3276600"/>
            <a:ext cx="9271000" cy="63500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</p:spPr>
        <p:txBody>
          <a:bodyPr wrap="none" lIns="228600" tIns="0" rIns="152400" bIns="0" anchor="ctr"/>
          <a:lstStyle/>
          <a:p>
            <a:pPr algn="l"/>
            <a:r>
              <a:rPr lang="pt-BR" sz="1600" b="1" dirty="0">
                <a:solidFill>
                  <a:srgbClr val="7FD6A0"/>
                </a:solidFill>
                <a:latin typeface="Consolas"/>
              </a:rPr>
              <a:t>jupyter ›  &lt;disciplina&gt;_pratica.ipynb   ·   seção: Encontro 1</a:t>
            </a:r>
          </a:p>
        </p:txBody>
      </p:sp>
      <p:sp>
        <p:nvSpPr>
          <p:cNvPr id="50" name="n0"/>
          <p:cNvSpPr/>
          <p:nvPr/>
        </p:nvSpPr>
        <p:spPr>
          <a:xfrm>
            <a:off x="1447800" y="4216400"/>
            <a:ext cx="457200" cy="457200"/>
          </a:xfrm>
          <a:prstGeom prst="ellipse">
            <a:avLst/>
          </a:prstGeom>
          <a:solidFill>
            <a:srgbClr val="5B93D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" name="t0"/>
          <p:cNvSpPr txBox="1"/>
          <p:nvPr/>
        </p:nvSpPr>
        <p:spPr>
          <a:xfrm>
            <a:off x="2108200" y="4178300"/>
            <a:ext cx="8890000" cy="5334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700" dirty="0">
                <a:solidFill>
                  <a:srgbClr val="1A1A1A"/>
                </a:solidFill>
                <a:latin typeface="Calibri"/>
              </a:rPr>
              <a:t>Abrir o notebook e localizar a seção do Encontro 1.</a:t>
            </a:r>
          </a:p>
        </p:txBody>
      </p:sp>
      <p:sp>
        <p:nvSpPr>
          <p:cNvPr id="51" name="n1"/>
          <p:cNvSpPr/>
          <p:nvPr/>
        </p:nvSpPr>
        <p:spPr>
          <a:xfrm>
            <a:off x="1447800" y="4800600"/>
            <a:ext cx="457200" cy="457200"/>
          </a:xfrm>
          <a:prstGeom prst="ellipse">
            <a:avLst/>
          </a:prstGeom>
          <a:solidFill>
            <a:srgbClr val="3E7CC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1" name="t1"/>
          <p:cNvSpPr txBox="1"/>
          <p:nvPr/>
        </p:nvSpPr>
        <p:spPr>
          <a:xfrm>
            <a:off x="2108200" y="4762500"/>
            <a:ext cx="8890000" cy="5334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700" dirty="0">
                <a:solidFill>
                  <a:srgbClr val="1A1A1A"/>
                </a:solidFill>
                <a:latin typeface="Calibri"/>
              </a:rPr>
              <a:t>Executar as células na ordem, de cima para baixo.</a:t>
            </a:r>
          </a:p>
        </p:txBody>
      </p:sp>
      <p:sp>
        <p:nvSpPr>
          <p:cNvPr id="52" name="n2"/>
          <p:cNvSpPr/>
          <p:nvPr/>
        </p:nvSpPr>
        <p:spPr>
          <a:xfrm>
            <a:off x="1447800" y="5384800"/>
            <a:ext cx="457200" cy="457200"/>
          </a:xfrm>
          <a:prstGeom prst="ellipse">
            <a:avLst/>
          </a:prstGeom>
          <a:solidFill>
            <a:srgbClr val="1E5DA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2" name="t2"/>
          <p:cNvSpPr txBox="1"/>
          <p:nvPr/>
        </p:nvSpPr>
        <p:spPr>
          <a:xfrm>
            <a:off x="2108200" y="5346700"/>
            <a:ext cx="8890000" cy="5334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700" dirty="0">
                <a:solidFill>
                  <a:srgbClr val="1A1A1A"/>
                </a:solidFill>
                <a:latin typeface="Calibri"/>
              </a:rPr>
              <a:t>Dataset sintético é determinístico — CSV fixo, sem aleatoriedade.</a:t>
            </a:r>
          </a:p>
        </p:txBody>
      </p:sp>
      <p:sp>
        <p:nvSpPr>
          <p:cNvPr id="53" name="n3"/>
          <p:cNvSpPr/>
          <p:nvPr/>
        </p:nvSpPr>
        <p:spPr>
          <a:xfrm>
            <a:off x="1447800" y="5969000"/>
            <a:ext cx="457200" cy="45720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3"/>
          <p:cNvSpPr txBox="1"/>
          <p:nvPr/>
        </p:nvSpPr>
        <p:spPr>
          <a:xfrm>
            <a:off x="2108200" y="5930900"/>
            <a:ext cx="8890000" cy="5334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700" dirty="0">
                <a:solidFill>
                  <a:srgbClr val="1A1A1A"/>
                </a:solidFill>
                <a:latin typeface="Calibri"/>
              </a:rPr>
              <a:t>Discussão dos resultados ao final.</a:t>
            </a:r>
          </a:p>
        </p:txBody>
      </p:sp>
    </p:spTree>
    <p:extLst>
      <p:ext uri="{BB962C8B-B14F-4D97-AF65-F5344CB8AC3E}">
        <p14:creationId xmlns:p14="http://schemas.microsoft.com/office/powerpoint/2010/main" val="1000780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1930400"/>
            <a:ext cx="10718800" cy="73660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"/>
          <p:cNvSpPr/>
          <p:nvPr/>
        </p:nvSpPr>
        <p:spPr>
          <a:xfrm>
            <a:off x="889000" y="2044700"/>
            <a:ext cx="508000" cy="508000"/>
          </a:xfrm>
          <a:prstGeom prst="ellipse">
            <a:avLst/>
          </a:prstGeom>
          <a:solidFill>
            <a:srgbClr val="5B93D6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"/>
          <p:cNvSpPr txBox="1"/>
          <p:nvPr/>
        </p:nvSpPr>
        <p:spPr>
          <a:xfrm>
            <a:off x="1574800" y="1930400"/>
            <a:ext cx="9702800" cy="736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Engenharia de Dados constrói o encanamento confiável que alimenta análise, IA e negócio.</a:t>
            </a:r>
          </a:p>
        </p:txBody>
      </p:sp>
      <p:sp>
        <p:nvSpPr>
          <p:cNvPr id="43" name="bg"/>
          <p:cNvSpPr/>
          <p:nvPr/>
        </p:nvSpPr>
        <p:spPr>
          <a:xfrm>
            <a:off x="736600" y="2794000"/>
            <a:ext cx="10718800" cy="73660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b"/>
          <p:cNvSpPr/>
          <p:nvPr/>
        </p:nvSpPr>
        <p:spPr>
          <a:xfrm>
            <a:off x="889000" y="2908300"/>
            <a:ext cx="508000" cy="508000"/>
          </a:xfrm>
          <a:prstGeom prst="ellipse">
            <a:avLst/>
          </a:prstGeom>
          <a:solidFill>
            <a:srgbClr val="3E7CC4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"/>
          <p:cNvSpPr txBox="1"/>
          <p:nvPr/>
        </p:nvSpPr>
        <p:spPr>
          <a:xfrm>
            <a:off x="1574800" y="2794000"/>
            <a:ext cx="9702800" cy="736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O dado é um produto: há distância real entre bruto e confiável — fechá-la é o nosso trabalho.</a:t>
            </a:r>
          </a:p>
        </p:txBody>
      </p:sp>
      <p:sp>
        <p:nvSpPr>
          <p:cNvPr id="46" name="bg"/>
          <p:cNvSpPr/>
          <p:nvPr/>
        </p:nvSpPr>
        <p:spPr>
          <a:xfrm>
            <a:off x="736600" y="3657600"/>
            <a:ext cx="10718800" cy="73660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b"/>
          <p:cNvSpPr/>
          <p:nvPr/>
        </p:nvSpPr>
        <p:spPr>
          <a:xfrm>
            <a:off x="889000" y="3771900"/>
            <a:ext cx="508000" cy="508000"/>
          </a:xfrm>
          <a:prstGeom prst="ellipse">
            <a:avLst/>
          </a:prstGeom>
          <a:solidFill>
            <a:srgbClr val="1E5DA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"/>
          <p:cNvSpPr txBox="1"/>
          <p:nvPr/>
        </p:nvSpPr>
        <p:spPr>
          <a:xfrm>
            <a:off x="1574800" y="3657600"/>
            <a:ext cx="9702800" cy="736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Programar dá automação, reprodutibilidade e escala.</a:t>
            </a:r>
          </a:p>
        </p:txBody>
      </p:sp>
      <p:sp>
        <p:nvSpPr>
          <p:cNvPr id="49" name="bg"/>
          <p:cNvSpPr/>
          <p:nvPr/>
        </p:nvSpPr>
        <p:spPr>
          <a:xfrm>
            <a:off x="736600" y="4521200"/>
            <a:ext cx="10718800" cy="73660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b"/>
          <p:cNvSpPr/>
          <p:nvPr/>
        </p:nvSpPr>
        <p:spPr>
          <a:xfrm>
            <a:off x="889000" y="4635500"/>
            <a:ext cx="508000" cy="508000"/>
          </a:xfrm>
          <a:prstGeom prst="ellipse">
            <a:avLst/>
          </a:prstGeom>
          <a:solidFill>
            <a:srgbClr val="103E82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"/>
          <p:cNvSpPr txBox="1"/>
          <p:nvPr/>
        </p:nvSpPr>
        <p:spPr>
          <a:xfrm>
            <a:off x="1574800" y="4521200"/>
            <a:ext cx="9702800" cy="736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Python é a cola central; SQL é inegociável; Scala/Java explicam o motor de larga escala.</a:t>
            </a:r>
          </a:p>
        </p:txBody>
      </p:sp>
      <p:sp>
        <p:nvSpPr>
          <p:cNvPr id="52" name="bg"/>
          <p:cNvSpPr/>
          <p:nvPr/>
        </p:nvSpPr>
        <p:spPr>
          <a:xfrm>
            <a:off x="736600" y="5384800"/>
            <a:ext cx="10718800" cy="736600"/>
          </a:xfrm>
          <a:prstGeom prst="roundRect">
            <a:avLst>
              <a:gd name="adj" fmla="val 14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b"/>
          <p:cNvSpPr/>
          <p:nvPr/>
        </p:nvSpPr>
        <p:spPr>
          <a:xfrm>
            <a:off x="889000" y="5499100"/>
            <a:ext cx="508000" cy="508000"/>
          </a:xfrm>
          <a:prstGeom prst="ellipse">
            <a:avLst/>
          </a:prstGeom>
          <a:solidFill>
            <a:srgbClr val="003B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7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4" name="t"/>
          <p:cNvSpPr txBox="1"/>
          <p:nvPr/>
        </p:nvSpPr>
        <p:spPr>
          <a:xfrm>
            <a:off x="1574800" y="5384800"/>
            <a:ext cx="9702800" cy="736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Extrair → Transformar → Carregar é o esqueleto que vamos refinar e escalar.</a:t>
            </a:r>
          </a:p>
        </p:txBody>
      </p:sp>
    </p:spTree>
    <p:extLst>
      <p:ext uri="{BB962C8B-B14F-4D97-AF65-F5344CB8AC3E}">
        <p14:creationId xmlns:p14="http://schemas.microsoft.com/office/powerpoint/2010/main" val="158064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Para o próximo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1E5DAA"/>
                </a:solidFill>
                <a:latin typeface="Calibri"/>
              </a:rPr>
              <a:t>Tarefa e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1 · 25/06/2026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2260600"/>
            <a:ext cx="10718800" cy="83820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k"/>
          <p:cNvSpPr/>
          <p:nvPr/>
        </p:nvSpPr>
        <p:spPr>
          <a:xfrm>
            <a:off x="939800" y="2413000"/>
            <a:ext cx="533400" cy="5334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"/>
          <p:cNvSpPr txBox="1"/>
          <p:nvPr/>
        </p:nvSpPr>
        <p:spPr>
          <a:xfrm>
            <a:off x="1676400" y="2260600"/>
            <a:ext cx="9575800" cy="838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Rode o notebook inteiro por conta própria; altere valores e observe o que muda.</a:t>
            </a:r>
          </a:p>
        </p:txBody>
      </p:sp>
      <p:sp>
        <p:nvSpPr>
          <p:cNvPr id="43" name="bg"/>
          <p:cNvSpPr/>
          <p:nvPr/>
        </p:nvSpPr>
        <p:spPr>
          <a:xfrm>
            <a:off x="736600" y="3276600"/>
            <a:ext cx="10718800" cy="83820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chk"/>
          <p:cNvSpPr/>
          <p:nvPr/>
        </p:nvSpPr>
        <p:spPr>
          <a:xfrm>
            <a:off x="939800" y="3429000"/>
            <a:ext cx="533400" cy="5334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"/>
          <p:cNvSpPr txBox="1"/>
          <p:nvPr/>
        </p:nvSpPr>
        <p:spPr>
          <a:xfrm>
            <a:off x="1676400" y="3276600"/>
            <a:ext cx="9575800" cy="838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Faça os exercícios — especialmente quebrar o pipeline de propósito e consertá-lo.</a:t>
            </a:r>
          </a:p>
        </p:txBody>
      </p:sp>
      <p:sp>
        <p:nvSpPr>
          <p:cNvPr id="46" name="bg"/>
          <p:cNvSpPr/>
          <p:nvPr/>
        </p:nvSpPr>
        <p:spPr>
          <a:xfrm>
            <a:off x="736600" y="4292600"/>
            <a:ext cx="10718800" cy="83820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chk"/>
          <p:cNvSpPr/>
          <p:nvPr/>
        </p:nvSpPr>
        <p:spPr>
          <a:xfrm>
            <a:off x="939800" y="4445000"/>
            <a:ext cx="533400" cy="5334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"/>
          <p:cNvSpPr txBox="1"/>
          <p:nvPr/>
        </p:nvSpPr>
        <p:spPr>
          <a:xfrm>
            <a:off x="1676400" y="4292600"/>
            <a:ext cx="9575800" cy="838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Traga um processo de dados do seu trabalho que hoje você faz na mão.</a:t>
            </a:r>
          </a:p>
        </p:txBody>
      </p:sp>
      <p:sp>
        <p:nvSpPr>
          <p:cNvPr id="49" name="bg"/>
          <p:cNvSpPr/>
          <p:nvPr/>
        </p:nvSpPr>
        <p:spPr>
          <a:xfrm>
            <a:off x="736600" y="5308600"/>
            <a:ext cx="10718800" cy="838200"/>
          </a:xfrm>
          <a:prstGeom prst="roundRect">
            <a:avLst>
              <a:gd name="adj" fmla="val 12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chk"/>
          <p:cNvSpPr/>
          <p:nvPr/>
        </p:nvSpPr>
        <p:spPr>
          <a:xfrm>
            <a:off x="939800" y="5461000"/>
            <a:ext cx="533400" cy="53340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900" b="1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1" name="t"/>
          <p:cNvSpPr txBox="1"/>
          <p:nvPr/>
        </p:nvSpPr>
        <p:spPr>
          <a:xfrm>
            <a:off x="1676400" y="5308600"/>
            <a:ext cx="9575800" cy="8382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dirty="0">
                <a:solidFill>
                  <a:srgbClr val="1A1A1A"/>
                </a:solidFill>
                <a:latin typeface="Calibri"/>
              </a:rPr>
              <a:t>Vamos enxergá-lo juntos como um pipeline (Extrair → Transformar → Carregar).</a:t>
            </a:r>
          </a:p>
        </p:txBody>
      </p:sp>
    </p:spTree>
    <p:extLst>
      <p:ext uri="{BB962C8B-B14F-4D97-AF65-F5344CB8AC3E}">
        <p14:creationId xmlns:p14="http://schemas.microsoft.com/office/powerpoint/2010/main" val="97600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40" name="bg"/>
          <p:cNvSpPr/>
          <p:nvPr/>
        </p:nvSpPr>
        <p:spPr>
          <a:xfrm>
            <a:off x="736600" y="1905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over"/>
          <p:cNvSpPr/>
          <p:nvPr/>
        </p:nvSpPr>
        <p:spPr>
          <a:xfrm>
            <a:off x="1720850" y="2184400"/>
            <a:ext cx="1524000" cy="1905000"/>
          </a:xfrm>
          <a:prstGeom prst="rect">
            <a:avLst/>
          </a:prstGeom>
          <a:solidFill>
            <a:srgbClr val="003B7A"/>
          </a:solidFill>
          <a:ln>
            <a:solidFill>
              <a:srgbClr val="FFFFFF"/>
            </a:solidFill>
          </a:ln>
          <a:effectLst>
            <a:outerShdw blurRad="40000" dist="20000" dir="5400000" rotWithShape="0">
              <a:srgbClr val="000000">
                <a:alpha val="22000"/>
              </a:srgbClr>
            </a:outerShdw>
          </a:effectLst>
        </p:spPr>
        <p:txBody>
          <a:bodyPr wrap="square" lIns="101600" tIns="76200" rIns="101600" bIns="7620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Fundamentos de Engenharia de Dados</a:t>
            </a:r>
          </a:p>
        </p:txBody>
      </p:sp>
      <p:sp>
        <p:nvSpPr>
          <p:cNvPr id="42" name="spine"/>
          <p:cNvSpPr/>
          <p:nvPr/>
        </p:nvSpPr>
        <p:spPr>
          <a:xfrm>
            <a:off x="1720850" y="2184400"/>
            <a:ext cx="101600" cy="1905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info"/>
          <p:cNvSpPr txBox="1"/>
          <p:nvPr/>
        </p:nvSpPr>
        <p:spPr>
          <a:xfrm>
            <a:off x="939800" y="4292600"/>
            <a:ext cx="3086100" cy="127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pt-BR" sz="1600" b="1" dirty="0">
                <a:solidFill>
                  <a:srgbClr val="003B7A"/>
                </a:solidFill>
                <a:latin typeface="Calibri"/>
              </a:rPr>
              <a:t>Reis &amp; Housley</a:t>
            </a:r>
          </a:p>
          <a:p>
            <a:pPr algn="ctr"/>
            <a:r>
              <a:rPr lang="pt-BR" sz="1400" dirty="0">
                <a:solidFill>
                  <a:srgbClr val="555555"/>
                </a:solidFill>
                <a:latin typeface="Calibri"/>
              </a:rPr>
              <a:t>O'Reilly / Alta Books · 2023</a:t>
            </a:r>
          </a:p>
        </p:txBody>
      </p:sp>
      <p:sp>
        <p:nvSpPr>
          <p:cNvPr id="44" name="bg"/>
          <p:cNvSpPr/>
          <p:nvPr/>
        </p:nvSpPr>
        <p:spPr>
          <a:xfrm>
            <a:off x="4330700" y="1905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cover"/>
          <p:cNvSpPr/>
          <p:nvPr/>
        </p:nvSpPr>
        <p:spPr>
          <a:xfrm>
            <a:off x="5314950" y="2184400"/>
            <a:ext cx="1524000" cy="1905000"/>
          </a:xfrm>
          <a:prstGeom prst="rect">
            <a:avLst/>
          </a:prstGeom>
          <a:solidFill>
            <a:srgbClr val="1E5DAA"/>
          </a:solidFill>
          <a:ln>
            <a:solidFill>
              <a:srgbClr val="FFFFFF"/>
            </a:solidFill>
          </a:ln>
          <a:effectLst>
            <a:outerShdw blurRad="40000" dist="20000" dir="5400000" rotWithShape="0">
              <a:srgbClr val="000000">
                <a:alpha val="22000"/>
              </a:srgbClr>
            </a:outerShdw>
          </a:effectLst>
        </p:spPr>
        <p:txBody>
          <a:bodyPr wrap="square" lIns="101600" tIns="76200" rIns="101600" bIns="7620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Python para Análise de Dados</a:t>
            </a:r>
          </a:p>
        </p:txBody>
      </p:sp>
      <p:sp>
        <p:nvSpPr>
          <p:cNvPr id="46" name="spine"/>
          <p:cNvSpPr/>
          <p:nvPr/>
        </p:nvSpPr>
        <p:spPr>
          <a:xfrm>
            <a:off x="5314950" y="2184400"/>
            <a:ext cx="101600" cy="1905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info"/>
          <p:cNvSpPr txBox="1"/>
          <p:nvPr/>
        </p:nvSpPr>
        <p:spPr>
          <a:xfrm>
            <a:off x="4533900" y="4292600"/>
            <a:ext cx="3086100" cy="127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pt-BR" sz="1600" b="1" dirty="0">
                <a:solidFill>
                  <a:srgbClr val="003B7A"/>
                </a:solidFill>
                <a:latin typeface="Calibri"/>
              </a:rPr>
              <a:t>Wes McKinney</a:t>
            </a:r>
          </a:p>
          <a:p>
            <a:pPr algn="ctr"/>
            <a:r>
              <a:rPr lang="pt-BR" sz="1400" dirty="0">
                <a:solidFill>
                  <a:srgbClr val="555555"/>
                </a:solidFill>
                <a:latin typeface="Calibri"/>
              </a:rPr>
              <a:t>3ª edição · O'Reilly · 2022</a:t>
            </a:r>
          </a:p>
        </p:txBody>
      </p:sp>
      <p:sp>
        <p:nvSpPr>
          <p:cNvPr id="48" name="bg"/>
          <p:cNvSpPr/>
          <p:nvPr/>
        </p:nvSpPr>
        <p:spPr>
          <a:xfrm>
            <a:off x="7924800" y="1905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>
            <a:solidFill>
              <a:srgbClr val="D3E1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cover"/>
          <p:cNvSpPr/>
          <p:nvPr/>
        </p:nvSpPr>
        <p:spPr>
          <a:xfrm>
            <a:off x="8909050" y="2184400"/>
            <a:ext cx="1524000" cy="1905000"/>
          </a:xfrm>
          <a:prstGeom prst="rect">
            <a:avLst/>
          </a:prstGeom>
          <a:solidFill>
            <a:srgbClr val="3E7CC4"/>
          </a:solidFill>
          <a:ln>
            <a:solidFill>
              <a:srgbClr val="FFFFFF"/>
            </a:solidFill>
          </a:ln>
          <a:effectLst>
            <a:outerShdw blurRad="40000" dist="20000" dir="5400000" rotWithShape="0">
              <a:srgbClr val="000000">
                <a:alpha val="22000"/>
              </a:srgbClr>
            </a:outerShdw>
          </a:effectLst>
        </p:spPr>
        <p:txBody>
          <a:bodyPr wrap="square" lIns="101600" tIns="76200" rIns="101600" bIns="7620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/>
              </a:rPr>
              <a:t>Designing Data-Intensive Applications</a:t>
            </a:r>
          </a:p>
        </p:txBody>
      </p:sp>
      <p:sp>
        <p:nvSpPr>
          <p:cNvPr id="50" name="spine"/>
          <p:cNvSpPr/>
          <p:nvPr/>
        </p:nvSpPr>
        <p:spPr>
          <a:xfrm>
            <a:off x="8909050" y="2184400"/>
            <a:ext cx="101600" cy="1905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info"/>
          <p:cNvSpPr txBox="1"/>
          <p:nvPr/>
        </p:nvSpPr>
        <p:spPr>
          <a:xfrm>
            <a:off x="8128000" y="4292600"/>
            <a:ext cx="3086100" cy="127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pt-BR" sz="1600" b="1" dirty="0">
                <a:solidFill>
                  <a:srgbClr val="003B7A"/>
                </a:solidFill>
                <a:latin typeface="Calibri"/>
              </a:rPr>
              <a:t>Martin Kleppmann</a:t>
            </a:r>
          </a:p>
          <a:p>
            <a:pPr algn="ctr"/>
            <a:r>
              <a:rPr lang="pt-BR" sz="1400" dirty="0">
                <a:solidFill>
                  <a:srgbClr val="555555"/>
                </a:solidFill>
                <a:latin typeface="Calibri"/>
              </a:rPr>
              <a:t>O'Reilly · 2017</a:t>
            </a:r>
          </a:p>
        </p:txBody>
      </p:sp>
    </p:spTree>
    <p:extLst>
      <p:ext uri="{BB962C8B-B14F-4D97-AF65-F5344CB8AC3E}">
        <p14:creationId xmlns:p14="http://schemas.microsoft.com/office/powerpoint/2010/main" val="3884403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64008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0" name="accent"/>
          <p:cNvSpPr/>
          <p:nvPr/>
        </p:nvSpPr>
        <p:spPr>
          <a:xfrm>
            <a:off x="5524500" y="3810000"/>
            <a:ext cx="1143000" cy="88900"/>
          </a:xfrm>
          <a:prstGeom prst="rect">
            <a:avLst/>
          </a:prstGeom>
          <a:solidFill>
            <a:srgbClr val="5B93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pill"/>
          <p:cNvSpPr/>
          <p:nvPr/>
        </p:nvSpPr>
        <p:spPr>
          <a:xfrm>
            <a:off x="2667000" y="4724400"/>
            <a:ext cx="6858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inbadge"/>
          <p:cNvSpPr/>
          <p:nvPr/>
        </p:nvSpPr>
        <p:spPr>
          <a:xfrm>
            <a:off x="2819400" y="48514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0A66C2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43" name="handle"/>
          <p:cNvSpPr txBox="1"/>
          <p:nvPr/>
        </p:nvSpPr>
        <p:spPr>
          <a:xfrm>
            <a:off x="3403600" y="4724400"/>
            <a:ext cx="5969000" cy="6858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/>
            <a:r>
              <a:rPr lang="pt-BR" sz="1600" b="1" dirty="0">
                <a:solidFill>
                  <a:srgbClr val="003B7A"/>
                </a:solidFill>
                <a:latin typeface="Calibri"/>
              </a:rPr>
              <a:t>linkedin.com/in/cassio-pinheiro-9baa7939</a:t>
            </a:r>
          </a:p>
        </p:txBody>
      </p:sp>
    </p:spTree>
    <p:extLst>
      <p:ext uri="{BB962C8B-B14F-4D97-AF65-F5344CB8AC3E}">
        <p14:creationId xmlns:p14="http://schemas.microsoft.com/office/powerpoint/2010/main" val="290383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85B63F-4B6D-F340-915A-E741858865D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56b07c3-ae52-4120-bd72-31b6578400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1591</Words>
  <Application>Microsoft Macintosh PowerPoint</Application>
  <PresentationFormat>Widescreen</PresentationFormat>
  <Paragraphs>251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CASSIO Pinheiro Oliveira F179091</cp:lastModifiedBy>
  <cp:revision>2</cp:revision>
  <dcterms:created xsi:type="dcterms:W3CDTF">2013-01-27T09:14:16Z</dcterms:created>
  <dcterms:modified xsi:type="dcterms:W3CDTF">2026-06-26T00:40:19Z</dcterms:modified>
  <cp:category/>
</cp:coreProperties>
</file>