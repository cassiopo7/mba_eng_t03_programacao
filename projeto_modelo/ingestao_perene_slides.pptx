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último encontro a gente construiu 10 pipelines do YouTube e tirou análise de negócio de cada domínio. Hoje quero mostrar que aquilo foi só metade do trabalho — a metade do cientista. A outra metade, a do engenheiro, é transformar aquele código de aula num sistema que roda sozinho, todo dia, sem ninguém clicar.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Tese: no Desafio 1 agimos com a pegada de cientista — entender o negócio, explorar o dado. Isso faz parte do trabalho do engenheiro. Mas o engenheiro não para aí: torna aquilo perene, confiável e automatizado. O Desafio 2 é esse salto.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Repare na palavra-chave: explorar. A gente colava 2-3 IDs, rodava uma vez, olhava o resultado e interpretava o negócio. É ótimo e insubstituível. Mas é a postura de quem investiga o dado, não de quem opera um sistema.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Essa frase é do nosso primeiro encontro. Nos 10 notebooks fizemos muito a parte de cima — o que a água revela. Mas a parte de baixo, o encanamento que entrega a água confiável e na hora certa, a gente só esboçou.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Desafio 2 é construir esse encanamento: a parte de baixo da metáfora.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São quatro perguntas que o notebook não responde — porque ele foi feito para rodar uma vez, com supervisão humana. Em produção ninguém cola ID na mão nem fica olhando célula rodar. Essas quatro perguntas viram os quatro pilares do ingestor.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régua já estava dada no Encontro 1. Não vamos inventar nada novo — vamos honrar esses critérios no código.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Guardem essas quatro palavras: idempotência, tratamento de erro, rastreabilidade e observabilidade. Elas vão reaparecer em cada pilar.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Mesma matéria-prima — transcrição do YouTube, mesmo Bronze/Silver/Gold, mesmo contrato Pandera. O que muda é tudo que está em volta do pipeline. É a diferença entre saber cozinhar um prato e abrir um restaurante que serve aquele prato todo dia.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Quatro pilares. Cada um responde uma das quatro perguntas, e cada um materializa um conceito de algum encontro do curso. Vamos um por 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Aqui já aparece a cabeça de engenheiro: não basta funcionar, tem que funcionar dentro de uma restrição de custo. Escolher playlistItems em vez de search é a diferença entre rodar 100 canais ou estourar a cota antes do almoço.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Lembram do Encontro 4? Processe menos. O watermark é isso: em vez de reprocessar o canal inteiro toda vez, guardo onde parei e só pego o que é novo. É barato, é incremental, e permite rodar de 15 em 15 minutos sem peso.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Dois encontros num slide. A idempotência é o critério do E1 — rodar duas vezes não duplica. O tratamento do que falha é o E5 — não jogo fora em silêncio, marco como FAILED e registro o porquê. O content_hash é o detalhe esperto: se o canal corrige a legenda, o hash muda e só aquele vídeo reprocessa.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Encontro 6 separou agendador de orquestrador. Aqui estamos na camada do agendador: cada canal tem seu ritmo, e esse ritmo é uma decisão de negócio que mora num YAML. Notícia de guerra de 15 em 15 minutos; review de celular pode esperar 6 horas. Mudar isso não exige mexer numa linha de Python.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Essa é a fase completa. O Bronze→Silver→Gold é o mesmo dos notebooks — não jogamos nada fora. O que entrou foi a casca: descoberta incremental antes, atualização de estado no meio, avanço do watermark no fim. E o Silver agora é particionado por domínio e data, exatamente o que o E4 ensinou.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 estado, não há incrementalidade nem idempotência — você sempre começaria do zero. Esse SQLite é o coração do sistema: sabe o que já foi feito. É barato, um arquivo só, zero setup, e responde as três perguntas que definem um engenheiro de dados.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Esse slide é o resumo da tese. A ingestão perene não é um tópico novo — é o curso inteiro convergindo num só artefato. Cada encontro deixou uma peça, e o ingestor é onde todas se encaixam. Por isso é a continuação natural dos 10 notebooks.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último passo é o que torna a palavra perene verdadeira: sai da minha máquina e vai para um servidor que liga sozinho, reinicia sozinho e registra tudo. Aqui o pipeline finalmente roda sem mim. É a fronteira entre 'um script que eu rodo' e 'um sistema que existe'.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Modo demo roda sem chave de API e sem gastar cota — dados sintéticos deterministas. Vou rodar uma vez, mostrar o estado, rodar de novo e a gente vê o watermark fazendo seu trabalho.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10 notebooks foram a pegada cientista; a ingestão perene é a pegada engenheiro. As duas não competem — o engenheiro entende o negócio e constrói o encanamento.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Frase de efeito: o notebook responde 'o que o dado diz'. O ingestor responde 'como esse dado chega, confiável, todo dia, sem mim'. Engenharia de dados é dominar as duas perguntas.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for_negative.png"/>
          <p:cNvPicPr>
            <a:picLocks noChangeAspect="1"/>
          </p:cNvPicPr>
          <p:nvPr/>
        </p:nvPicPr>
        <p:blipFill>
          <a:blip r:embed="rId2"/>
          <a:stretch>
            <a:fillRect/>
          </a:stretch>
        </p:blipFill>
        <p:spPr>
          <a:xfrm>
            <a:off x="640080" y="457200"/>
            <a:ext cx="2157984" cy="914400"/>
          </a:xfrm>
          <a:prstGeom prst="rect">
            <a:avLst/>
          </a:prstGeom>
        </p:spPr>
      </p:pic>
      <p:sp>
        <p:nvSpPr>
          <p:cNvPr id="4" name="TextBox 3"/>
          <p:cNvSpPr txBox="1"/>
          <p:nvPr/>
        </p:nvSpPr>
        <p:spPr>
          <a:xfrm>
            <a:off x="3657600" y="777240"/>
            <a:ext cx="8076895" cy="548640"/>
          </a:xfrm>
          <a:prstGeom prst="rect">
            <a:avLst/>
          </a:prstGeom>
          <a:noFill/>
        </p:spPr>
        <p:txBody>
          <a:bodyPr wrap="none">
            <a:spAutoFit/>
          </a:bodyPr>
          <a:lstStyle/>
          <a:p>
            <a:pPr algn="r"/>
            <a:r>
              <a:rPr sz="1400">
                <a:solidFill>
                  <a:srgbClr val="D9E2F0"/>
                </a:solidFill>
                <a:latin typeface="Calibri"/>
              </a:rPr>
              <a:t>Pós-Graduação — Especialização em Engenharia de Dados</a:t>
            </a:r>
          </a:p>
        </p:txBody>
      </p:sp>
      <p:sp>
        <p:nvSpPr>
          <p:cNvPr id="5" name="TextBox 4"/>
          <p:cNvSpPr txBox="1"/>
          <p:nvPr/>
        </p:nvSpPr>
        <p:spPr>
          <a:xfrm>
            <a:off x="731520" y="2331720"/>
            <a:ext cx="10728655" cy="1097280"/>
          </a:xfrm>
          <a:prstGeom prst="rect">
            <a:avLst/>
          </a:prstGeom>
          <a:noFill/>
        </p:spPr>
        <p:txBody>
          <a:bodyPr wrap="square">
            <a:spAutoFit/>
          </a:bodyPr>
          <a:lstStyle/>
          <a:p>
            <a:pPr algn="ctr"/>
            <a:r>
              <a:rPr sz="4000" b="1" i="0">
                <a:solidFill>
                  <a:srgbClr val="002855"/>
                </a:solidFill>
                <a:latin typeface="Calibri"/>
              </a:rPr>
              <a:t>Da Análise à Ingestão Perene</a:t>
            </a:r>
          </a:p>
        </p:txBody>
      </p:sp>
      <p:sp>
        <p:nvSpPr>
          <p:cNvPr id="6" name="TextBox 5"/>
          <p:cNvSpPr txBox="1"/>
          <p:nvPr/>
        </p:nvSpPr>
        <p:spPr>
          <a:xfrm>
            <a:off x="731520" y="3611880"/>
            <a:ext cx="10728655" cy="1097280"/>
          </a:xfrm>
          <a:prstGeom prst="rect">
            <a:avLst/>
          </a:prstGeom>
          <a:noFill/>
        </p:spPr>
        <p:txBody>
          <a:bodyPr wrap="square">
            <a:spAutoFit/>
          </a:bodyPr>
          <a:lstStyle/>
          <a:p>
            <a:pPr algn="ctr"/>
            <a:r>
              <a:rPr sz="2200" b="1" i="0">
                <a:solidFill>
                  <a:srgbClr val="1E5DAA"/>
                </a:solidFill>
                <a:latin typeface="Calibri"/>
              </a:rPr>
              <a:t>Como transformar 10 notebooks de aula num pipeline que roda sozinho na VPS</a:t>
            </a:r>
          </a:p>
        </p:txBody>
      </p:sp>
      <p:sp>
        <p:nvSpPr>
          <p:cNvPr id="7" name="TextBox 6"/>
          <p:cNvSpPr txBox="1"/>
          <p:nvPr/>
        </p:nvSpPr>
        <p:spPr>
          <a:xfrm>
            <a:off x="731520" y="4434840"/>
            <a:ext cx="10728655" cy="1097280"/>
          </a:xfrm>
          <a:prstGeom prst="rect">
            <a:avLst/>
          </a:prstGeom>
          <a:noFill/>
        </p:spPr>
        <p:txBody>
          <a:bodyPr wrap="square">
            <a:spAutoFit/>
          </a:bodyPr>
          <a:lstStyle/>
          <a:p>
            <a:pPr algn="ctr"/>
            <a:r>
              <a:rPr sz="1600" b="0" i="0">
                <a:solidFill>
                  <a:srgbClr val="555555"/>
                </a:solidFill>
                <a:latin typeface="Calibri"/>
              </a:rPr>
              <a:t>Professor: Cassio Pinheiro  •  https://www.linkedin.com/in/cassio-pinheiro-9baa7939/</a:t>
            </a:r>
          </a:p>
        </p:txBody>
      </p:sp>
      <p:sp>
        <p:nvSpPr>
          <p:cNvPr id="8" name="TextBox 7"/>
          <p:cNvSpPr txBox="1"/>
          <p:nvPr/>
        </p:nvSpPr>
        <p:spPr>
          <a:xfrm>
            <a:off x="731520" y="5029200"/>
            <a:ext cx="10728655" cy="1097280"/>
          </a:xfrm>
          <a:prstGeom prst="rect">
            <a:avLst/>
          </a:prstGeom>
          <a:noFill/>
        </p:spPr>
        <p:txBody>
          <a:bodyPr wrap="square">
            <a:spAutoFit/>
          </a:bodyPr>
          <a:lstStyle/>
          <a:p>
            <a:pPr algn="ctr"/>
            <a:r>
              <a:rPr sz="1400" b="0" i="0">
                <a:solidFill>
                  <a:srgbClr val="555555"/>
                </a:solidFill>
                <a:latin typeface="Calibri"/>
              </a:rPr>
              <a:t>Carga horária: Engenharia de Dados  |  Datas: Desafio 2 — evolução dos pipelines do YouTube</a:t>
            </a:r>
          </a:p>
        </p:txBody>
      </p:sp>
      <p:sp>
        <p:nvSpPr>
          <p:cNvPr id="9" name="Rectangle 8"/>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728655" cy="1097280"/>
          </a:xfrm>
          <a:prstGeom prst="rect">
            <a:avLst/>
          </a:prstGeom>
          <a:noFill/>
        </p:spPr>
        <p:txBody>
          <a:bodyPr wrap="square">
            <a:spAutoFit/>
          </a:bodyPr>
          <a:lstStyle/>
          <a:p>
            <a:pPr algn="ctr"/>
            <a:r>
              <a:rPr sz="1800" b="0" i="0">
                <a:solidFill>
                  <a:srgbClr val="1E5DAA"/>
                </a:solidFill>
                <a:latin typeface="Calibri"/>
              </a:rPr>
              <a:t>Desafio 2 — ingestao_perene_youtube</a:t>
            </a:r>
          </a:p>
        </p:txBody>
      </p:sp>
      <p:sp>
        <p:nvSpPr>
          <p:cNvPr id="4" name="TextBox 3"/>
          <p:cNvSpPr txBox="1"/>
          <p:nvPr/>
        </p:nvSpPr>
        <p:spPr>
          <a:xfrm>
            <a:off x="731520" y="2834640"/>
            <a:ext cx="10728655" cy="1097280"/>
          </a:xfrm>
          <a:prstGeom prst="rect">
            <a:avLst/>
          </a:prstGeom>
          <a:noFill/>
        </p:spPr>
        <p:txBody>
          <a:bodyPr wrap="square">
            <a:spAutoFit/>
          </a:bodyPr>
          <a:lstStyle/>
          <a:p>
            <a:pPr algn="ctr"/>
            <a:r>
              <a:rPr sz="3200" b="1" i="0">
                <a:solidFill>
                  <a:srgbClr val="003B7A"/>
                </a:solidFill>
                <a:latin typeface="Calibri"/>
              </a:rPr>
              <a:t>Da pegada de cientista à pegada de engenheiro</a:t>
            </a:r>
          </a:p>
        </p:txBody>
      </p:sp>
      <p:sp>
        <p:nvSpPr>
          <p:cNvPr id="5" name="TextBox 4"/>
          <p:cNvSpPr txBox="1"/>
          <p:nvPr/>
        </p:nvSpPr>
        <p:spPr>
          <a:xfrm>
            <a:off x="731520" y="3657600"/>
            <a:ext cx="10728655" cy="1097280"/>
          </a:xfrm>
          <a:prstGeom prst="rect">
            <a:avLst/>
          </a:prstGeom>
          <a:noFill/>
        </p:spPr>
        <p:txBody>
          <a:bodyPr wrap="square">
            <a:spAutoFit/>
          </a:bodyPr>
          <a:lstStyle/>
          <a:p>
            <a:pPr algn="ctr"/>
            <a:r>
              <a:rPr sz="1400" b="0" i="0">
                <a:solidFill>
                  <a:srgbClr val="555555"/>
                </a:solidFill>
                <a:latin typeface="Calibri"/>
              </a:rPr>
              <a:t>Os 10 notebooks foram só metade do trabalho</a:t>
            </a:r>
          </a:p>
        </p:txBody>
      </p:sp>
      <p:pic>
        <p:nvPicPr>
          <p:cNvPr id="6" name="Picture 5" descr="unifor_positive.png"/>
          <p:cNvPicPr>
            <a:picLocks noChangeAspect="1"/>
          </p:cNvPicPr>
          <p:nvPr/>
        </p:nvPicPr>
        <p:blipFill>
          <a:blip r:embed="rId2"/>
          <a:stretch>
            <a:fillRect/>
          </a:stretch>
        </p:blipFill>
        <p:spPr>
          <a:xfrm>
            <a:off x="10763402" y="5897880"/>
            <a:ext cx="971092" cy="411480"/>
          </a:xfrm>
          <a:prstGeom prst="rect">
            <a:avLst/>
          </a:prstGeom>
        </p:spPr>
      </p:pic>
      <p:sp>
        <p:nvSpPr>
          <p:cNvPr id="7" name="Rectangle 6"/>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Onde paramos: os 10 notebooks (Desafio 1)</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Uma postura de explorar o dado, não de operar um sistema</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10 domínios (finanças, esportes, geopolítica, saúde, e-commerce...), cada um com seu Gold.</a:t>
            </a:r>
          </a:p>
          <a:p>
            <a:pPr algn="l">
              <a:spcAft>
                <a:spcPts val="800"/>
              </a:spcAft>
            </a:pPr>
            <a:r>
              <a:rPr sz="1800">
                <a:solidFill>
                  <a:srgbClr val="1A1A1A"/>
                </a:solidFill>
                <a:latin typeface="Calibri"/>
              </a:rPr>
              <a:t>•  Pipeline Bronze → Silver → Gold executável, com fallback sintético e contrato Pandera.</a:t>
            </a:r>
          </a:p>
          <a:p>
            <a:pPr algn="l">
              <a:spcAft>
                <a:spcPts val="800"/>
              </a:spcAft>
            </a:pPr>
            <a:r>
              <a:rPr sz="1800">
                <a:solidFill>
                  <a:srgbClr val="1A1A1A"/>
                </a:solidFill>
                <a:latin typeface="Calibri"/>
              </a:rPr>
              <a:t>•  O aluno colava os VIDEO_IDS na mão e rodava o notebook uma vez para EXPLORAR.</a:t>
            </a:r>
          </a:p>
          <a:p>
            <a:pPr algn="l">
              <a:spcAft>
                <a:spcPts val="800"/>
              </a:spcAft>
            </a:pPr>
            <a:r>
              <a:rPr sz="1800">
                <a:solidFill>
                  <a:srgbClr val="1A1A1A"/>
                </a:solidFill>
                <a:latin typeface="Calibri"/>
              </a:rPr>
              <a:t>•  Legítimo e insubstituível — mas é investigar o dado, não operar um sistema.</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03120"/>
            <a:ext cx="10728655" cy="1097280"/>
          </a:xfrm>
          <a:prstGeom prst="rect">
            <a:avLst/>
          </a:prstGeom>
          <a:noFill/>
        </p:spPr>
        <p:txBody>
          <a:bodyPr wrap="square">
            <a:spAutoFit/>
          </a:bodyPr>
          <a:lstStyle/>
          <a:p>
            <a:pPr algn="ctr"/>
            <a:r>
              <a:rPr sz="2600" b="0" i="1">
                <a:solidFill>
                  <a:srgbClr val="FFFFFF"/>
                </a:solidFill>
                <a:latin typeface="Calibri"/>
              </a:rPr>
              <a:t>Se o dado é água, o engenheiro constrói o encanamento;</a:t>
            </a:r>
          </a:p>
        </p:txBody>
      </p:sp>
      <p:sp>
        <p:nvSpPr>
          <p:cNvPr id="4" name="TextBox 3"/>
          <p:cNvSpPr txBox="1"/>
          <p:nvPr/>
        </p:nvSpPr>
        <p:spPr>
          <a:xfrm>
            <a:off x="731520" y="3108960"/>
            <a:ext cx="10728655" cy="1097280"/>
          </a:xfrm>
          <a:prstGeom prst="rect">
            <a:avLst/>
          </a:prstGeom>
          <a:noFill/>
        </p:spPr>
        <p:txBody>
          <a:bodyPr wrap="square">
            <a:spAutoFit/>
          </a:bodyPr>
          <a:lstStyle/>
          <a:p>
            <a:pPr algn="ctr"/>
            <a:r>
              <a:rPr sz="2600" b="0" i="1">
                <a:solidFill>
                  <a:srgbClr val="FFFFFF"/>
                </a:solidFill>
                <a:latin typeface="Calibri"/>
              </a:rPr>
              <a:t>o cientista analisa o que a água revela.</a:t>
            </a:r>
          </a:p>
        </p:txBody>
      </p:sp>
      <p:sp>
        <p:nvSpPr>
          <p:cNvPr id="5" name="TextBox 4"/>
          <p:cNvSpPr txBox="1"/>
          <p:nvPr/>
        </p:nvSpPr>
        <p:spPr>
          <a:xfrm>
            <a:off x="731520" y="4114800"/>
            <a:ext cx="10728655" cy="1097280"/>
          </a:xfrm>
          <a:prstGeom prst="rect">
            <a:avLst/>
          </a:prstGeom>
          <a:noFill/>
        </p:spPr>
        <p:txBody>
          <a:bodyPr wrap="square">
            <a:spAutoFit/>
          </a:bodyPr>
          <a:lstStyle/>
          <a:p>
            <a:pPr algn="ctr"/>
            <a:r>
              <a:rPr sz="2800" b="1" i="0">
                <a:solidFill>
                  <a:srgbClr val="FFFFFF"/>
                </a:solidFill>
                <a:latin typeface="Calibri"/>
              </a:rPr>
              <a:t>Sem encanamento, não há análise.  — Encontro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A metáfora do curso: água × encanamento</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Nos 10 notebooks fizemos a parte de cima; faltava a de baixo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Cientista pergunta: "o que este dado revela?" → nos notebooks, o Gold por domínio.</a:t>
            </a:r>
          </a:p>
          <a:p>
            <a:pPr algn="l">
              <a:spcAft>
                <a:spcPts val="800"/>
              </a:spcAft>
            </a:pPr>
            <a:r>
              <a:rPr sz="1800">
                <a:solidFill>
                  <a:srgbClr val="1A1A1A"/>
                </a:solidFill>
                <a:latin typeface="Calibri"/>
              </a:rPr>
              <a:t>•  Engenheiro pergunta: "como entrego este dado confiável, na hora certa?".</a:t>
            </a:r>
          </a:p>
          <a:p>
            <a:pPr algn="l">
              <a:spcAft>
                <a:spcPts val="800"/>
              </a:spcAft>
            </a:pPr>
            <a:r>
              <a:rPr sz="1800">
                <a:solidFill>
                  <a:srgbClr val="1A1A1A"/>
                </a:solidFill>
                <a:latin typeface="Calibri"/>
              </a:rPr>
              <a:t>•  A parte de baixo — o encanamento que entrega água confiável e pontual — só esboçamos.</a:t>
            </a:r>
          </a:p>
          <a:p>
            <a:pPr algn="l">
              <a:spcAft>
                <a:spcPts val="800"/>
              </a:spcAft>
            </a:pPr>
            <a:r>
              <a:rPr sz="1800">
                <a:solidFill>
                  <a:srgbClr val="1A1A1A"/>
                </a:solidFill>
                <a:latin typeface="Calibri"/>
              </a:rPr>
              <a:t>•  O Desafio 2 é construir esse encanamento.</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O que faltava: as perguntas do engenheiro</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Quatro perguntas que o notebook não responde</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Quem cola os IDs todo dia? (e se forem 30 canais?)</a:t>
            </a:r>
          </a:p>
          <a:p>
            <a:pPr algn="l">
              <a:spcAft>
                <a:spcPts val="800"/>
              </a:spcAft>
            </a:pPr>
            <a:r>
              <a:rPr sz="1800">
                <a:solidFill>
                  <a:srgbClr val="1A1A1A"/>
                </a:solidFill>
                <a:latin typeface="Calibri"/>
              </a:rPr>
              <a:t>•  Como eu sei o que já é novo desde ontem, sem reprocessar tudo?</a:t>
            </a:r>
          </a:p>
          <a:p>
            <a:pPr algn="l">
              <a:spcAft>
                <a:spcPts val="800"/>
              </a:spcAft>
            </a:pPr>
            <a:r>
              <a:rPr sz="1800">
                <a:solidFill>
                  <a:srgbClr val="1A1A1A"/>
                </a:solidFill>
                <a:latin typeface="Calibri"/>
              </a:rPr>
              <a:t>•  Se eu rodar duas vezes, eu duplico os dados?</a:t>
            </a:r>
          </a:p>
          <a:p>
            <a:pPr algn="l">
              <a:spcAft>
                <a:spcPts val="800"/>
              </a:spcAft>
            </a:pPr>
            <a:r>
              <a:rPr sz="1800">
                <a:solidFill>
                  <a:srgbClr val="1A1A1A"/>
                </a:solidFill>
                <a:latin typeface="Calibri"/>
              </a:rPr>
              <a:t>•  Quem garante que isso roda às 6h da manhã sem eu abrir o VS Code?</a:t>
            </a:r>
          </a:p>
          <a:p>
            <a:pPr algn="l">
              <a:spcAft>
                <a:spcPts val="800"/>
              </a:spcAft>
            </a:pPr>
            <a:r>
              <a:rPr sz="1800">
                <a:solidFill>
                  <a:srgbClr val="1A1A1A"/>
                </a:solidFill>
                <a:latin typeface="Calibri"/>
              </a:rPr>
              <a:t>•  Essas quatro perguntas viram os quatro pilares do ingestor.</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06039"/>
            <a:ext cx="10728655" cy="1097280"/>
          </a:xfrm>
          <a:prstGeom prst="rect">
            <a:avLst/>
          </a:prstGeom>
          <a:noFill/>
        </p:spPr>
        <p:txBody>
          <a:bodyPr wrap="square">
            <a:spAutoFit/>
          </a:bodyPr>
          <a:lstStyle/>
          <a:p>
            <a:pPr algn="ctr"/>
            <a:r>
              <a:rPr sz="2600" b="0" i="1">
                <a:solidFill>
                  <a:srgbClr val="FFFFFF"/>
                </a:solidFill>
                <a:latin typeface="Calibri"/>
              </a:rPr>
              <a:t>Um script roda uma vez;</a:t>
            </a:r>
          </a:p>
        </p:txBody>
      </p:sp>
      <p:sp>
        <p:nvSpPr>
          <p:cNvPr id="4" name="TextBox 3"/>
          <p:cNvSpPr txBox="1"/>
          <p:nvPr/>
        </p:nvSpPr>
        <p:spPr>
          <a:xfrm>
            <a:off x="731520" y="3611879"/>
            <a:ext cx="10728655" cy="1097280"/>
          </a:xfrm>
          <a:prstGeom prst="rect">
            <a:avLst/>
          </a:prstGeom>
          <a:noFill/>
        </p:spPr>
        <p:txBody>
          <a:bodyPr wrap="square">
            <a:spAutoFit/>
          </a:bodyPr>
          <a:lstStyle/>
          <a:p>
            <a:pPr algn="ctr"/>
            <a:r>
              <a:rPr sz="2800" b="1" i="0">
                <a:solidFill>
                  <a:srgbClr val="FFFFFF"/>
                </a:solidFill>
                <a:latin typeface="Calibri"/>
              </a:rPr>
              <a:t>um pipeline roda muitas — de forma confiável.  — Encontro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O que torna isto "engenharia"</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A régua já estava cravada no Encontro 1</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Idempotência — rodar duas vezes dá o mesmo resultado, sem duplicar.</a:t>
            </a:r>
          </a:p>
          <a:p>
            <a:pPr algn="l">
              <a:spcAft>
                <a:spcPts val="800"/>
              </a:spcAft>
            </a:pPr>
            <a:r>
              <a:rPr sz="1800">
                <a:solidFill>
                  <a:srgbClr val="1A1A1A"/>
                </a:solidFill>
                <a:latin typeface="Calibri"/>
              </a:rPr>
              <a:t>•  Tratamento de erro — fonte malformada falha de forma clara, não corrompe em silêncio.</a:t>
            </a:r>
          </a:p>
          <a:p>
            <a:pPr algn="l">
              <a:spcAft>
                <a:spcPts val="800"/>
              </a:spcAft>
            </a:pPr>
            <a:r>
              <a:rPr sz="1800">
                <a:solidFill>
                  <a:srgbClr val="1A1A1A"/>
                </a:solidFill>
                <a:latin typeface="Calibri"/>
              </a:rPr>
              <a:t>•  Rastreabilidade — conto quantas linhas entraram, saíram e por que cada uma foi descartada.</a:t>
            </a:r>
          </a:p>
          <a:p>
            <a:pPr algn="l">
              <a:spcAft>
                <a:spcPts val="800"/>
              </a:spcAft>
            </a:pPr>
            <a:r>
              <a:rPr sz="1800">
                <a:solidFill>
                  <a:srgbClr val="1A1A1A"/>
                </a:solidFill>
                <a:latin typeface="Calibri"/>
              </a:rPr>
              <a:t>•  Observabilidade — o pipeline registra o que fez (logs) para eu confiar sem assistir.</a:t>
            </a:r>
          </a:p>
          <a:p>
            <a:pPr algn="l">
              <a:spcAft>
                <a:spcPts val="800"/>
              </a:spcAft>
            </a:pPr>
            <a:r>
              <a:rPr sz="1800">
                <a:solidFill>
                  <a:srgbClr val="1A1A1A"/>
                </a:solidFill>
                <a:latin typeface="Calibri"/>
              </a:rPr>
              <a:t>•  Não vamos inventar nada novo — vamos honrar esses quatro critérios no código.</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O Desafio 2: ingestão perene</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Mesma matéria-prima; muda tudo em volta do pipeline</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Entrada: cola VIDEO_IDS na mão → descobre sozinho (YouTube Data API).</a:t>
            </a:r>
          </a:p>
          <a:p>
            <a:pPr algn="l">
              <a:spcAft>
                <a:spcPts val="800"/>
              </a:spcAft>
            </a:pPr>
            <a:r>
              <a:rPr sz="1800">
                <a:solidFill>
                  <a:srgbClr val="1A1A1A"/>
                </a:solidFill>
                <a:latin typeface="Calibri"/>
              </a:rPr>
              <a:t>•  Execução: roda 1 vez supervisionado → roda perene, agendado.</a:t>
            </a:r>
          </a:p>
          <a:p>
            <a:pPr algn="l">
              <a:spcAft>
                <a:spcPts val="800"/>
              </a:spcAft>
            </a:pPr>
            <a:r>
              <a:rPr sz="1800">
                <a:solidFill>
                  <a:srgbClr val="1A1A1A"/>
                </a:solidFill>
                <a:latin typeface="Calibri"/>
              </a:rPr>
              <a:t>•  Estado: nenhum → SQLite com watermark + idempotência.</a:t>
            </a:r>
          </a:p>
          <a:p>
            <a:pPr algn="l">
              <a:spcAft>
                <a:spcPts val="800"/>
              </a:spcAft>
            </a:pPr>
            <a:r>
              <a:rPr sz="1800">
                <a:solidFill>
                  <a:srgbClr val="1A1A1A"/>
                </a:solidFill>
                <a:latin typeface="Calibri"/>
              </a:rPr>
              <a:t>•  Postura: cientista explora → engenheiro opera.</a:t>
            </a:r>
          </a:p>
          <a:p>
            <a:pPr algn="l">
              <a:spcAft>
                <a:spcPts val="800"/>
              </a:spcAft>
            </a:pPr>
            <a:r>
              <a:rPr sz="1800">
                <a:solidFill>
                  <a:srgbClr val="1A1A1A"/>
                </a:solidFill>
                <a:latin typeface="Calibri"/>
              </a:rPr>
              <a:t>•  Diferença entre saber cozinhar um prato e abrir um restaurante que o serve todo dia.</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Os 4 pilares (visão geral)</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Cada pilar responde uma pergunta e materializa um encontro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Descoberta automática — acabou colar ID; a API encontra os vídeos novos.</a:t>
            </a:r>
          </a:p>
          <a:p>
            <a:pPr algn="l">
              <a:spcAft>
                <a:spcPts val="800"/>
              </a:spcAft>
            </a:pPr>
            <a:r>
              <a:rPr sz="1800">
                <a:solidFill>
                  <a:srgbClr val="1A1A1A"/>
                </a:solidFill>
                <a:latin typeface="Calibri"/>
              </a:rPr>
              <a:t>•  Incrementalidade (watermark) — só processa o que é novo desde a última vez.</a:t>
            </a:r>
          </a:p>
          <a:p>
            <a:pPr algn="l">
              <a:spcAft>
                <a:spcPts val="800"/>
              </a:spcAft>
            </a:pPr>
            <a:r>
              <a:rPr sz="1800">
                <a:solidFill>
                  <a:srgbClr val="1A1A1A"/>
                </a:solidFill>
                <a:latin typeface="Calibri"/>
              </a:rPr>
              <a:t>•  Idempotência — rodar N vezes não duplica; legenda corrigida reprocessa.</a:t>
            </a:r>
          </a:p>
          <a:p>
            <a:pPr algn="l">
              <a:spcAft>
                <a:spcPts val="800"/>
              </a:spcAft>
            </a:pPr>
            <a:r>
              <a:rPr sz="1800">
                <a:solidFill>
                  <a:srgbClr val="1A1A1A"/>
                </a:solidFill>
                <a:latin typeface="Calibri"/>
              </a:rPr>
              <a:t>•  Agendamento por negócio — cada canal no seu ritmo (guerra: 15min; review: 6h).</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Pilar 1 — Descoberta automática + cota</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Não basta funcionar; tem que funcionar dentro do custo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Sai de VIDEO_IDS = [...] para o canal inteiro, via YouTube Data API v3.</a:t>
            </a:r>
          </a:p>
          <a:p>
            <a:pPr algn="l">
              <a:spcAft>
                <a:spcPts val="800"/>
              </a:spcAft>
            </a:pPr>
            <a:r>
              <a:rPr sz="1800">
                <a:solidFill>
                  <a:srgbClr val="1A1A1A"/>
                </a:solidFill>
                <a:latin typeface="Calibri"/>
              </a:rPr>
              <a:t>•  A API dá 10.000 unidades/dia — cota é restrição de engenharia.</a:t>
            </a:r>
          </a:p>
          <a:p>
            <a:pPr algn="l">
              <a:spcAft>
                <a:spcPts val="800"/>
              </a:spcAft>
            </a:pPr>
            <a:r>
              <a:rPr sz="1800">
                <a:solidFill>
                  <a:srgbClr val="1A1A1A"/>
                </a:solidFill>
                <a:latin typeface="Calibri"/>
              </a:rPr>
              <a:t>•  ❌ search.list = 100 unidades por chamada (caro!).</a:t>
            </a:r>
          </a:p>
          <a:p>
            <a:pPr algn="l">
              <a:spcAft>
                <a:spcPts val="800"/>
              </a:spcAft>
            </a:pPr>
            <a:r>
              <a:rPr sz="1800">
                <a:solidFill>
                  <a:srgbClr val="1A1A1A"/>
                </a:solidFill>
                <a:latin typeface="Calibri"/>
              </a:rPr>
              <a:t>•  ✅ channels.list → playlist de uploads → playlistItems.list = 1 unidade.</a:t>
            </a:r>
          </a:p>
          <a:p>
            <a:pPr algn="l">
              <a:spcAft>
                <a:spcPts val="800"/>
              </a:spcAft>
            </a:pPr>
            <a:r>
              <a:rPr sz="1800">
                <a:solidFill>
                  <a:srgbClr val="1A1A1A"/>
                </a:solidFill>
                <a:latin typeface="Calibri"/>
              </a:rPr>
              <a:t>•  Resultado: ~2 unidades/ciclo por canal → dezenas de canais o dia todo na cota grátis.</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Pilar 2 — Incrementalidade (watermark)</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Eco do Encontro 4: processe menos, não mais rápido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watermark = store.get_watermark(channel_id)  # maior publishedAt já processado.</a:t>
            </a:r>
          </a:p>
          <a:p>
            <a:pPr algn="l">
              <a:spcAft>
                <a:spcPts val="800"/>
              </a:spcAft>
            </a:pPr>
            <a:r>
              <a:rPr sz="1800">
                <a:solidFill>
                  <a:srgbClr val="1A1A1A"/>
                </a:solidFill>
                <a:latin typeface="Calibri"/>
              </a:rPr>
              <a:t>•  disc.descobrir(channel_id, watermark) → só o que veio DEPOIS.</a:t>
            </a:r>
          </a:p>
          <a:p>
            <a:pPr algn="l">
              <a:spcAft>
                <a:spcPts val="800"/>
              </a:spcAft>
            </a:pPr>
            <a:r>
              <a:rPr sz="1800">
                <a:solidFill>
                  <a:srgbClr val="1A1A1A"/>
                </a:solidFill>
                <a:latin typeface="Calibri"/>
              </a:rPr>
              <a:t>•  Guarda o maior publishedAt por canal; no próximo ciclo ignora tudo ≤ watermark.</a:t>
            </a:r>
          </a:p>
          <a:p>
            <a:pPr algn="l">
              <a:spcAft>
                <a:spcPts val="800"/>
              </a:spcAft>
            </a:pPr>
            <a:r>
              <a:rPr sz="1800">
                <a:solidFill>
                  <a:srgbClr val="1A1A1A"/>
                </a:solidFill>
                <a:latin typeface="Calibri"/>
              </a:rPr>
              <a:t>•  É o particionamento e a leitura incremental do E4, aplicados ao tempo.</a:t>
            </a:r>
          </a:p>
          <a:p>
            <a:pPr algn="l">
              <a:spcAft>
                <a:spcPts val="800"/>
              </a:spcAft>
            </a:pPr>
            <a:r>
              <a:rPr sz="1800">
                <a:solidFill>
                  <a:srgbClr val="1A1A1A"/>
                </a:solidFill>
                <a:latin typeface="Calibri"/>
              </a:rPr>
              <a:t>•  Barato e incremental: permite rodar de 15 em 15 minutos sem peso.</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Pilar 3 — Idempotência + contrato</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Eco dos Encontros 1 e 5</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h = content_hash(texto_total)  # sha256 da transcrição.</a:t>
            </a:r>
          </a:p>
          <a:p>
            <a:pPr algn="l">
              <a:spcAft>
                <a:spcPts val="800"/>
              </a:spcAft>
            </a:pPr>
            <a:r>
              <a:rPr sz="1800">
                <a:solidFill>
                  <a:srgbClr val="1A1A1A"/>
                </a:solidFill>
                <a:latin typeface="Calibri"/>
              </a:rPr>
              <a:t>•  if store.ja_ingerido(video_id, h): pular  → IDEMPOTÊNCIA: não duplica.</a:t>
            </a:r>
          </a:p>
          <a:p>
            <a:pPr algn="l">
              <a:spcAft>
                <a:spcPts val="800"/>
              </a:spcAft>
            </a:pPr>
            <a:r>
              <a:rPr sz="1800">
                <a:solidFill>
                  <a:srgbClr val="1A1A1A"/>
                </a:solidFill>
                <a:latin typeface="Calibri"/>
              </a:rPr>
              <a:t>•  content_hash detecta legenda corrigida → reprocessa só esse vídeo.</a:t>
            </a:r>
          </a:p>
          <a:p>
            <a:pPr algn="l">
              <a:spcAft>
                <a:spcPts val="800"/>
              </a:spcAft>
            </a:pPr>
            <a:r>
              <a:rPr sz="1800">
                <a:solidFill>
                  <a:srgbClr val="1A1A1A"/>
                </a:solidFill>
                <a:latin typeface="Calibri"/>
              </a:rPr>
              <a:t>•  SILVER_SCHEMA.validate(df) — contrato Pandera, o mesmo do Desafio 1.</a:t>
            </a:r>
          </a:p>
          <a:p>
            <a:pPr algn="l">
              <a:spcAft>
                <a:spcPts val="800"/>
              </a:spcAft>
            </a:pPr>
            <a:r>
              <a:rPr sz="1800">
                <a:solidFill>
                  <a:srgbClr val="1A1A1A"/>
                </a:solidFill>
                <a:latin typeface="Calibri"/>
              </a:rPr>
              <a:t>•  Falha de schema → vídeo vai para FAILED (quarentena do E5), não derruba o lote.</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Pilar 4 — Agendamento por negócio</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Eco do Encontro 6: o agendador diz QUANDO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config/canais.yaml — frequência é decisão de NEGÓCIO, não de código.</a:t>
            </a:r>
          </a:p>
          <a:p>
            <a:pPr algn="l">
              <a:spcAft>
                <a:spcPts val="800"/>
              </a:spcAft>
            </a:pPr>
            <a:r>
              <a:rPr sz="1800">
                <a:solidFill>
                  <a:srgbClr val="1A1A1A"/>
                </a:solidFill>
                <a:latin typeface="Calibri"/>
              </a:rPr>
              <a:t>•  Geopolitica: 15 min (guerra muda em minutos) · Financas: 60 min · Reviews: 360 min.</a:t>
            </a:r>
          </a:p>
          <a:p>
            <a:pPr algn="l">
              <a:spcAft>
                <a:spcPts val="800"/>
              </a:spcAft>
            </a:pPr>
            <a:r>
              <a:rPr sz="1800">
                <a:solidFill>
                  <a:srgbClr val="1A1A1A"/>
                </a:solidFill>
                <a:latin typeface="Calibri"/>
              </a:rPr>
              <a:t>•  APScheduler agenda cada canal no seu intervalo, declarado em YAML.</a:t>
            </a:r>
          </a:p>
          <a:p>
            <a:pPr algn="l">
              <a:spcAft>
                <a:spcPts val="800"/>
              </a:spcAft>
            </a:pPr>
            <a:r>
              <a:rPr sz="1800">
                <a:solidFill>
                  <a:srgbClr val="1A1A1A"/>
                </a:solidFill>
                <a:latin typeface="Calibri"/>
              </a:rPr>
              <a:t>•  Modos: --once (1 ciclo), perene (agendado), --status (resumo do estado).</a:t>
            </a:r>
          </a:p>
          <a:p>
            <a:pPr algn="l">
              <a:spcAft>
                <a:spcPts val="800"/>
              </a:spcAft>
            </a:pPr>
            <a:r>
              <a:rPr sz="1800">
                <a:solidFill>
                  <a:srgbClr val="1A1A1A"/>
                </a:solidFill>
                <a:latin typeface="Calibri"/>
              </a:rPr>
              <a:t>•  Mudar o ritmo não exige tocar numa linha de Python.</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A estrutura completa: um ciclo de ingestão</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O Bronze→Silver→Gold é o mesmo; entrou a casca em volta</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Descobrir (incremental, via watermark) → para cada vídeo NOVO e não-ingerido:</a:t>
            </a:r>
          </a:p>
          <a:p>
            <a:pPr algn="l">
              <a:spcAft>
                <a:spcPts val="800"/>
              </a:spcAft>
            </a:pPr>
            <a:r>
              <a:rPr sz="1800">
                <a:solidFill>
                  <a:srgbClr val="1A1A1A"/>
                </a:solidFill>
                <a:latin typeface="Calibri"/>
              </a:rPr>
              <a:t>•  captar transcrição → BRONZE; limpar + contrato Pandera → SILVER (parquet particionado).</a:t>
            </a:r>
          </a:p>
          <a:p>
            <a:pPr algn="l">
              <a:spcAft>
                <a:spcPts val="800"/>
              </a:spcAft>
            </a:pPr>
            <a:r>
              <a:rPr sz="1800">
                <a:solidFill>
                  <a:srgbClr val="1A1A1A"/>
                </a:solidFill>
                <a:latin typeface="Calibri"/>
              </a:rPr>
              <a:t>•  atualizar estado SQLite (idempotência); rodar analítico do domínio → GOLD.</a:t>
            </a:r>
          </a:p>
          <a:p>
            <a:pPr algn="l">
              <a:spcAft>
                <a:spcPts val="800"/>
              </a:spcAft>
            </a:pPr>
            <a:r>
              <a:rPr sz="1800">
                <a:solidFill>
                  <a:srgbClr val="1A1A1A"/>
                </a:solidFill>
                <a:latin typeface="Calibri"/>
              </a:rPr>
              <a:t>•  avançar o watermark do canal ao final.</a:t>
            </a:r>
          </a:p>
          <a:p>
            <a:pPr algn="l">
              <a:spcAft>
                <a:spcPts val="800"/>
              </a:spcAft>
            </a:pPr>
            <a:r>
              <a:rPr sz="1800">
                <a:solidFill>
                  <a:srgbClr val="1A1A1A"/>
                </a:solidFill>
                <a:latin typeface="Calibri"/>
              </a:rPr>
              <a:t>•  Saída: lakehouse local — control/ingestion.db · silver/dominio=/dt= · gold/.</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O estado é a fonte da verdade (SQLite)</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ingestion_state responde as 3 perguntas do engenheiro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O que eu já ingeri? → tabela ingestion_state (PK = video_id).</a:t>
            </a:r>
          </a:p>
          <a:p>
            <a:pPr algn="l">
              <a:spcAft>
                <a:spcPts val="800"/>
              </a:spcAft>
            </a:pPr>
            <a:r>
              <a:rPr sz="1800">
                <a:solidFill>
                  <a:srgbClr val="1A1A1A"/>
                </a:solidFill>
                <a:latin typeface="Calibri"/>
              </a:rPr>
              <a:t>•  O que mudou desde a última vez? → channel_watermark (maior publishedAt).</a:t>
            </a:r>
          </a:p>
          <a:p>
            <a:pPr algn="l">
              <a:spcAft>
                <a:spcPts val="800"/>
              </a:spcAft>
            </a:pPr>
            <a:r>
              <a:rPr sz="1800">
                <a:solidFill>
                  <a:srgbClr val="1A1A1A"/>
                </a:solidFill>
                <a:latin typeface="Calibri"/>
              </a:rPr>
              <a:t>•  Como evito duplicar/corromper? → UPSERT idempotente + content_hash.</a:t>
            </a:r>
          </a:p>
          <a:p>
            <a:pPr algn="l">
              <a:spcAft>
                <a:spcPts val="800"/>
              </a:spcAft>
            </a:pPr>
            <a:r>
              <a:rPr sz="1800">
                <a:solidFill>
                  <a:srgbClr val="1A1A1A"/>
                </a:solidFill>
                <a:latin typeface="Calibri"/>
              </a:rPr>
              <a:t>•  Status de cada vídeo: DISCOVERED → INGESTED → FAILED/SKIPPED.</a:t>
            </a:r>
          </a:p>
          <a:p>
            <a:pPr algn="l">
              <a:spcAft>
                <a:spcPts val="800"/>
              </a:spcAft>
            </a:pPr>
            <a:r>
              <a:rPr sz="1800">
                <a:solidFill>
                  <a:srgbClr val="1A1A1A"/>
                </a:solidFill>
                <a:latin typeface="Calibri"/>
              </a:rPr>
              <a:t>•  --status lê isso e dá observabilidade (E1) sem abrir o banco. Um arquivo só, zero setup.</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Como tudo amarra no curso (E1 → E6)</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A ingestão perene é o curso inteiro convergindo num artefato</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E1 Fundamentos: idempotência, erro, rastreabilidade, observabilidade → os 4 critérios em state.py.</a:t>
            </a:r>
          </a:p>
          <a:p>
            <a:pPr algn="l">
              <a:spcAft>
                <a:spcPts val="800"/>
              </a:spcAft>
            </a:pPr>
            <a:r>
              <a:rPr sz="1800">
                <a:solidFill>
                  <a:srgbClr val="1A1A1A"/>
                </a:solidFill>
                <a:latin typeface="Calibri"/>
              </a:rPr>
              <a:t>•  E2 pandas: DataFrame e limpeza → camada Silver (_bronze_silver).</a:t>
            </a:r>
          </a:p>
          <a:p>
            <a:pPr algn="l">
              <a:spcAft>
                <a:spcPts val="800"/>
              </a:spcAft>
            </a:pPr>
            <a:r>
              <a:rPr sz="1800">
                <a:solidFill>
                  <a:srgbClr val="1A1A1A"/>
                </a:solidFill>
                <a:latin typeface="Calibri"/>
              </a:rPr>
              <a:t>•  E3 SQL: agregação, JOIN, window → Gold em DuckDB.</a:t>
            </a:r>
          </a:p>
          <a:p>
            <a:pPr algn="l">
              <a:spcAft>
                <a:spcPts val="800"/>
              </a:spcAft>
            </a:pPr>
            <a:r>
              <a:rPr sz="1800">
                <a:solidFill>
                  <a:srgbClr val="1A1A1A"/>
                </a:solidFill>
                <a:latin typeface="Calibri"/>
              </a:rPr>
              <a:t>•  E4 Escala: Parquet, particionamento, "processe menos" → watermark + silver/dominio=/dt=.</a:t>
            </a:r>
          </a:p>
          <a:p>
            <a:pPr algn="l">
              <a:spcAft>
                <a:spcPts val="800"/>
              </a:spcAft>
            </a:pPr>
            <a:r>
              <a:rPr sz="1800">
                <a:solidFill>
                  <a:srgbClr val="1A1A1A"/>
                </a:solidFill>
                <a:latin typeface="Calibri"/>
              </a:rPr>
              <a:t>•  E5 Qualidade: Pandera, contrato, quarentena → SILVER_SCHEMA + FAILED. E6: APScheduler + canais.yaml.</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Rodar perene de verdade: a VPS (systemd)</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A fronteira entre 'um script que eu rodo' e 'um sistema que existe'</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systemctl enable --now ingestor → sobe no boot e reinicia se cair.</a:t>
            </a:r>
          </a:p>
          <a:p>
            <a:pPr algn="l">
              <a:spcAft>
                <a:spcPts val="800"/>
              </a:spcAft>
            </a:pPr>
            <a:r>
              <a:rPr sz="1800">
                <a:solidFill>
                  <a:srgbClr val="1A1A1A"/>
                </a:solidFill>
                <a:latin typeface="Calibri"/>
              </a:rPr>
              <a:t>•  Restart=always → se o processo morre, o systemd ressuscita.</a:t>
            </a:r>
          </a:p>
          <a:p>
            <a:pPr algn="l">
              <a:spcAft>
                <a:spcPts val="800"/>
              </a:spcAft>
            </a:pPr>
            <a:r>
              <a:rPr sz="1800">
                <a:solidFill>
                  <a:srgbClr val="1A1A1A"/>
                </a:solidFill>
                <a:latin typeface="Calibri"/>
              </a:rPr>
              <a:t>•  journalctl -u ingestor -f → logs em tempo real (observabilidade).</a:t>
            </a:r>
          </a:p>
          <a:p>
            <a:pPr algn="l">
              <a:spcAft>
                <a:spcPts val="800"/>
              </a:spcAft>
            </a:pPr>
            <a:r>
              <a:rPr sz="1800">
                <a:solidFill>
                  <a:srgbClr val="1A1A1A"/>
                </a:solidFill>
                <a:latin typeface="Calibri"/>
              </a:rPr>
              <a:t>•  Roda sem o seu computador ligado — o "tirar o humano da cadeira" do E6.</a:t>
            </a:r>
          </a:p>
          <a:p>
            <a:pPr algn="l">
              <a:spcAft>
                <a:spcPts val="800"/>
              </a:spcAft>
            </a:pPr>
            <a:r>
              <a:rPr sz="1800">
                <a:solidFill>
                  <a:srgbClr val="1A1A1A"/>
                </a:solidFill>
                <a:latin typeface="Calibri"/>
              </a:rPr>
              <a:t>•  Aqui o pipeline finalmente roda sem mim.</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0" cy="6858000"/>
          </a:xfrm>
          <a:prstGeom prst="rect">
            <a:avLst/>
          </a:prstGeom>
          <a:solidFill>
            <a:srgbClr val="1E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1280160"/>
            <a:ext cx="9997135" cy="914400"/>
          </a:xfrm>
          <a:prstGeom prst="rect">
            <a:avLst/>
          </a:prstGeom>
          <a:noFill/>
        </p:spPr>
        <p:txBody>
          <a:bodyPr wrap="none">
            <a:spAutoFit/>
          </a:bodyPr>
          <a:lstStyle/>
          <a:p>
            <a:r>
              <a:rPr sz="3200" b="1">
                <a:solidFill>
                  <a:srgbClr val="003B7A"/>
                </a:solidFill>
                <a:latin typeface="Calibri"/>
              </a:rPr>
              <a:t>Demo</a:t>
            </a:r>
          </a:p>
        </p:txBody>
      </p:sp>
      <p:sp>
        <p:nvSpPr>
          <p:cNvPr id="4" name="TextBox 3"/>
          <p:cNvSpPr txBox="1"/>
          <p:nvPr/>
        </p:nvSpPr>
        <p:spPr>
          <a:xfrm>
            <a:off x="1463040" y="2560320"/>
            <a:ext cx="9997135" cy="4297680"/>
          </a:xfrm>
          <a:prstGeom prst="rect">
            <a:avLst/>
          </a:prstGeom>
          <a:noFill/>
        </p:spPr>
        <p:txBody>
          <a:bodyPr wrap="square">
            <a:spAutoFit/>
          </a:bodyPr>
          <a:lstStyle/>
          <a:p>
            <a:pPr algn="l">
              <a:spcAft>
                <a:spcPts val="800"/>
              </a:spcAft>
            </a:pPr>
            <a:r>
              <a:rPr sz="1800">
                <a:solidFill>
                  <a:srgbClr val="1A1A1A"/>
                </a:solidFill>
                <a:latin typeface="Calibri"/>
              </a:rPr>
              <a:t>•  python -m youtube_ingestor.scheduler --once → 1 ciclo por canal (modo demo, sem API key).</a:t>
            </a:r>
          </a:p>
          <a:p>
            <a:pPr algn="l">
              <a:spcAft>
                <a:spcPts val="800"/>
              </a:spcAft>
            </a:pPr>
            <a:r>
              <a:rPr sz="1800">
                <a:solidFill>
                  <a:srgbClr val="1A1A1A"/>
                </a:solidFill>
                <a:latin typeface="Calibri"/>
              </a:rPr>
              <a:t>•  --status → mostra {'INGESTED': N}.</a:t>
            </a:r>
          </a:p>
          <a:p>
            <a:pPr algn="l">
              <a:spcAft>
                <a:spcPts val="800"/>
              </a:spcAft>
            </a:pPr>
            <a:r>
              <a:rPr sz="1800">
                <a:solidFill>
                  <a:srgbClr val="1A1A1A"/>
                </a:solidFill>
                <a:latin typeface="Calibri"/>
              </a:rPr>
              <a:t>•  Rodar --once de novo → o watermark avançou: incrementalidade em ação.</a:t>
            </a:r>
          </a:p>
          <a:p>
            <a:pPr algn="l">
              <a:spcAft>
                <a:spcPts val="800"/>
              </a:spcAft>
            </a:pPr>
            <a:r>
              <a:rPr sz="1800">
                <a:solidFill>
                  <a:srgbClr val="1A1A1A"/>
                </a:solidFill>
                <a:latin typeface="Calibri"/>
              </a:rPr>
              <a:t>•  Abrir o Parquet Silver → ver as partições dominio=/dt= e a coluna do contrato.</a:t>
            </a:r>
          </a:p>
        </p:txBody>
      </p:sp>
      <p:sp>
        <p:nvSpPr>
          <p:cNvPr id="5" name="Rectangle 4"/>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r>
              <a:rPr sz="3200" b="1">
                <a:solidFill>
                  <a:srgbClr val="003B7A"/>
                </a:solidFill>
                <a:latin typeface="Calibri"/>
              </a:rPr>
              <a:t>Fechamento</a:t>
            </a:r>
          </a:p>
        </p:txBody>
      </p:sp>
      <p:sp>
        <p:nvSpPr>
          <p:cNvPr id="4" name="TextBox 3"/>
          <p:cNvSpPr txBox="1"/>
          <p:nvPr/>
        </p:nvSpPr>
        <p:spPr>
          <a:xfrm>
            <a:off x="749808" y="1325880"/>
            <a:ext cx="10728655" cy="457200"/>
          </a:xfrm>
          <a:prstGeom prst="rect">
            <a:avLst/>
          </a:prstGeom>
          <a:noFill/>
        </p:spPr>
        <p:txBody>
          <a:bodyPr wrap="square">
            <a:spAutoFit/>
          </a:bodyPr>
          <a:lstStyle/>
          <a:p>
            <a:r>
              <a:rPr sz="2200" i="1">
                <a:solidFill>
                  <a:srgbClr val="555555"/>
                </a:solidFill>
                <a:latin typeface="Calibri"/>
              </a:rPr>
              <a:t>As duas pegadas não competem — se completam</a:t>
            </a:r>
          </a:p>
        </p:txBody>
      </p:sp>
      <p:sp>
        <p:nvSpPr>
          <p:cNvPr id="5" name="TextBox 4"/>
          <p:cNvSpPr txBox="1"/>
          <p:nvPr/>
        </p:nvSpPr>
        <p:spPr>
          <a:xfrm>
            <a:off x="914400" y="2057400"/>
            <a:ext cx="10545775" cy="4297680"/>
          </a:xfrm>
          <a:prstGeom prst="rect">
            <a:avLst/>
          </a:prstGeom>
          <a:noFill/>
        </p:spPr>
        <p:txBody>
          <a:bodyPr wrap="square">
            <a:spAutoFit/>
          </a:bodyPr>
          <a:lstStyle/>
          <a:p>
            <a:pPr algn="l">
              <a:spcAft>
                <a:spcPts val="800"/>
              </a:spcAft>
            </a:pPr>
            <a:r>
              <a:rPr sz="1800">
                <a:solidFill>
                  <a:srgbClr val="1A1A1A"/>
                </a:solidFill>
                <a:latin typeface="Calibri"/>
              </a:rPr>
              <a:t>•  Os 10 notebooks foram a pegada cientista: entender o negócio. Necessária e insubstituível.</a:t>
            </a:r>
          </a:p>
          <a:p>
            <a:pPr algn="l">
              <a:spcAft>
                <a:spcPts val="800"/>
              </a:spcAft>
            </a:pPr>
            <a:r>
              <a:rPr sz="1800">
                <a:solidFill>
                  <a:srgbClr val="1A1A1A"/>
                </a:solidFill>
                <a:latin typeface="Calibri"/>
              </a:rPr>
              <a:t>•  A ingestão perene é a pegada engenheiro: tornar aquilo confiável, incremental e automático.</a:t>
            </a:r>
          </a:p>
          <a:p>
            <a:pPr algn="l">
              <a:spcAft>
                <a:spcPts val="800"/>
              </a:spcAft>
            </a:pPr>
            <a:r>
              <a:rPr sz="1800">
                <a:solidFill>
                  <a:srgbClr val="1A1A1A"/>
                </a:solidFill>
                <a:latin typeface="Calibri"/>
              </a:rPr>
              <a:t>•  O engenheiro entende o negócio E constrói o encanamento.</a:t>
            </a:r>
          </a:p>
          <a:p>
            <a:pPr algn="l">
              <a:spcAft>
                <a:spcPts val="800"/>
              </a:spcAft>
            </a:pPr>
            <a:r>
              <a:rPr sz="1800">
                <a:solidFill>
                  <a:srgbClr val="1A1A1A"/>
                </a:solidFill>
                <a:latin typeface="Calibri"/>
              </a:rPr>
              <a:t>•  O notebook responde 'o que o dado diz'; o ingestor, 'como ele chega, confiável, todo dia, sem mim'.</a:t>
            </a:r>
          </a:p>
        </p:txBody>
      </p:sp>
      <p:sp>
        <p:nvSpPr>
          <p:cNvPr id="6" name="Rectangle 5"/>
          <p:cNvSpPr/>
          <p:nvPr/>
        </p:nvSpPr>
        <p:spPr>
          <a:xfrm>
            <a:off x="457200" y="6492240"/>
            <a:ext cx="11277295" cy="18288"/>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11277295" cy="274320"/>
          </a:xfrm>
          <a:prstGeom prst="rect">
            <a:avLst/>
          </a:prstGeom>
          <a:noFill/>
        </p:spPr>
        <p:txBody>
          <a:bodyPr wrap="none">
            <a:spAutoFit/>
          </a:bodyPr>
          <a:lstStyle/>
          <a:p>
            <a:pPr algn="l"/>
            <a:r>
              <a:rPr sz="1100">
                <a:solidFill>
                  <a:srgbClr val="555555"/>
                </a:solidFill>
                <a:latin typeface="Calibri"/>
              </a:rPr>
              <a:t>Da Análise à Ingestão Perene · Desafio 2 · Prof. Cassio Pinheiro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03120"/>
            <a:ext cx="10728655" cy="1097280"/>
          </a:xfrm>
          <a:prstGeom prst="rect">
            <a:avLst/>
          </a:prstGeom>
          <a:noFill/>
        </p:spPr>
        <p:txBody>
          <a:bodyPr wrap="square">
            <a:spAutoFit/>
          </a:bodyPr>
          <a:lstStyle/>
          <a:p>
            <a:pPr algn="ctr"/>
            <a:r>
              <a:rPr sz="2600" b="0" i="1">
                <a:solidFill>
                  <a:srgbClr val="FFFFFF"/>
                </a:solidFill>
                <a:latin typeface="Calibri"/>
              </a:rPr>
              <a:t>O ingestor responde: como esse dado chega,</a:t>
            </a:r>
          </a:p>
        </p:txBody>
      </p:sp>
      <p:sp>
        <p:nvSpPr>
          <p:cNvPr id="4" name="TextBox 3"/>
          <p:cNvSpPr txBox="1"/>
          <p:nvPr/>
        </p:nvSpPr>
        <p:spPr>
          <a:xfrm>
            <a:off x="731520" y="3108960"/>
            <a:ext cx="10728655" cy="1097280"/>
          </a:xfrm>
          <a:prstGeom prst="rect">
            <a:avLst/>
          </a:prstGeom>
          <a:noFill/>
        </p:spPr>
        <p:txBody>
          <a:bodyPr wrap="square">
            <a:spAutoFit/>
          </a:bodyPr>
          <a:lstStyle/>
          <a:p>
            <a:pPr algn="ctr"/>
            <a:r>
              <a:rPr sz="2600" b="0" i="1">
                <a:solidFill>
                  <a:srgbClr val="FFFFFF"/>
                </a:solidFill>
                <a:latin typeface="Calibri"/>
              </a:rPr>
              <a:t>confiável, todo dia, sem mim.</a:t>
            </a:r>
          </a:p>
        </p:txBody>
      </p:sp>
      <p:sp>
        <p:nvSpPr>
          <p:cNvPr id="5" name="TextBox 4"/>
          <p:cNvSpPr txBox="1"/>
          <p:nvPr/>
        </p:nvSpPr>
        <p:spPr>
          <a:xfrm>
            <a:off x="731520" y="4114800"/>
            <a:ext cx="10728655" cy="1097280"/>
          </a:xfrm>
          <a:prstGeom prst="rect">
            <a:avLst/>
          </a:prstGeom>
          <a:noFill/>
        </p:spPr>
        <p:txBody>
          <a:bodyPr wrap="square">
            <a:spAutoFit/>
          </a:bodyPr>
          <a:lstStyle/>
          <a:p>
            <a:pPr algn="ctr"/>
            <a:r>
              <a:rPr sz="2800" b="1" i="0">
                <a:solidFill>
                  <a:srgbClr val="FFFFFF"/>
                </a:solidFill>
                <a:latin typeface="Calibri"/>
              </a:rPr>
              <a:t>Engenharia de dados é dominar as duas perguntas.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03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for_negative.png"/>
          <p:cNvPicPr>
            <a:picLocks noChangeAspect="1"/>
          </p:cNvPicPr>
          <p:nvPr/>
        </p:nvPicPr>
        <p:blipFill>
          <a:blip r:embed="rId2"/>
          <a:stretch>
            <a:fillRect/>
          </a:stretch>
        </p:blipFill>
        <p:spPr>
          <a:xfrm>
            <a:off x="4585258" y="731520"/>
            <a:ext cx="3021177" cy="1280160"/>
          </a:xfrm>
          <a:prstGeom prst="rect">
            <a:avLst/>
          </a:prstGeom>
        </p:spPr>
      </p:pic>
      <p:sp>
        <p:nvSpPr>
          <p:cNvPr id="4" name="TextBox 3"/>
          <p:cNvSpPr txBox="1"/>
          <p:nvPr/>
        </p:nvSpPr>
        <p:spPr>
          <a:xfrm>
            <a:off x="731520" y="2743200"/>
            <a:ext cx="10728655" cy="1097280"/>
          </a:xfrm>
          <a:prstGeom prst="rect">
            <a:avLst/>
          </a:prstGeom>
          <a:noFill/>
        </p:spPr>
        <p:txBody>
          <a:bodyPr wrap="square">
            <a:spAutoFit/>
          </a:bodyPr>
          <a:lstStyle/>
          <a:p>
            <a:pPr algn="ctr"/>
            <a:r>
              <a:rPr sz="5400" b="1" i="0">
                <a:solidFill>
                  <a:srgbClr val="FFFFFF"/>
                </a:solidFill>
                <a:latin typeface="Calibri"/>
              </a:rPr>
              <a:t>Obrigado!</a:t>
            </a:r>
          </a:p>
        </p:txBody>
      </p:sp>
      <p:sp>
        <p:nvSpPr>
          <p:cNvPr id="5" name="TextBox 4"/>
          <p:cNvSpPr txBox="1"/>
          <p:nvPr/>
        </p:nvSpPr>
        <p:spPr>
          <a:xfrm>
            <a:off x="731520" y="4023360"/>
            <a:ext cx="10728655" cy="1097280"/>
          </a:xfrm>
          <a:prstGeom prst="rect">
            <a:avLst/>
          </a:prstGeom>
          <a:noFill/>
        </p:spPr>
        <p:txBody>
          <a:bodyPr wrap="square">
            <a:spAutoFit/>
          </a:bodyPr>
          <a:lstStyle/>
          <a:p>
            <a:pPr algn="ctr"/>
            <a:r>
              <a:rPr sz="2200" b="0" i="0">
                <a:solidFill>
                  <a:srgbClr val="E0EAF6"/>
                </a:solidFill>
                <a:latin typeface="Calibri"/>
              </a:rPr>
              <a:t>Cassio Pinheiro</a:t>
            </a:r>
          </a:p>
        </p:txBody>
      </p:sp>
      <p:sp>
        <p:nvSpPr>
          <p:cNvPr id="6" name="TextBox 5"/>
          <p:cNvSpPr txBox="1"/>
          <p:nvPr/>
        </p:nvSpPr>
        <p:spPr>
          <a:xfrm>
            <a:off x="731520" y="4663440"/>
            <a:ext cx="10728655" cy="1097280"/>
          </a:xfrm>
          <a:prstGeom prst="rect">
            <a:avLst/>
          </a:prstGeom>
          <a:noFill/>
        </p:spPr>
        <p:txBody>
          <a:bodyPr wrap="square">
            <a:spAutoFit/>
          </a:bodyPr>
          <a:lstStyle/>
          <a:p>
            <a:pPr algn="ctr"/>
            <a:r>
              <a:rPr sz="1600" b="0" i="0">
                <a:solidFill>
                  <a:srgbClr val="C7D6EA"/>
                </a:solidFill>
                <a:latin typeface="Calibri"/>
              </a:rPr>
              <a:t>https://www.linkedin.com/in/cassio-pinheiro-9baa7939/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